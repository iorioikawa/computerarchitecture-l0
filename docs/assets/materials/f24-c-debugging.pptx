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432" r:id="rId3"/>
    <p:sldId id="434" r:id="rId4"/>
    <p:sldId id="433" r:id="rId5"/>
    <p:sldId id="435" r:id="rId6"/>
    <p:sldId id="436" r:id="rId7"/>
    <p:sldId id="437" r:id="rId8"/>
    <p:sldId id="438" r:id="rId9"/>
    <p:sldId id="439" r:id="rId10"/>
    <p:sldId id="4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10"/>
    <p:restoredTop sz="96177"/>
  </p:normalViewPr>
  <p:slideViewPr>
    <p:cSldViewPr snapToGrid="0" snapToObjects="1">
      <p:cViewPr varScale="1">
        <p:scale>
          <a:sx n="99" d="100"/>
          <a:sy n="99" d="100"/>
        </p:scale>
        <p:origin x="192" y="2344"/>
      </p:cViewPr>
      <p:guideLst/>
    </p:cSldViewPr>
  </p:slideViewPr>
  <p:outlineViewPr>
    <p:cViewPr>
      <p:scale>
        <a:sx n="33" d="100"/>
        <a:sy n="33" d="100"/>
      </p:scale>
      <p:origin x="0" y="-60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95412-2A65-AB46-8F16-54367300B7D0}" type="datetimeFigureOut">
              <a:rPr lang="en-US" smtClean="0"/>
              <a:t>10/30/22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A779-5BA2-7248-BAD4-E73FE27D2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6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19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58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72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30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9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FE77-2A3F-E546-ABD6-AEA8A4C9F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6B4DF-3A7D-8F4A-85E4-D1755859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57BB-0079-E34F-A0E4-089DED3C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09F19-F7D1-D648-87E5-63632F0489E0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5544-17CD-DC4F-A071-B46D0B84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CF82-1EEB-E841-86E0-F2C262D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6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7BD8-A29E-DC4B-A51D-34727854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A653-CDA4-2F41-A19B-571CD538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2BF1-2556-8C48-A444-23BF470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589-E2DB-D540-8530-1E0CFADE7BA5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B4A7-1EAB-BA4B-8CD6-F5D0C5D8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47D9-EA5E-0249-9F6D-C2E5E61A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2D47-9772-A94E-8D32-DFC6C99B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8AFD-117C-6540-AAF4-6C93B3D1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61A2-EB9C-754F-8E9D-0F6356C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D7BF5-2494-5045-A397-495403F3C931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1F64-89EE-674A-928B-9AC62992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B7A1-5AC6-3F4F-B552-8E3A1B1F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B42E-BCDC-BC45-9C1D-40FF6C2F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EBC8-95D9-AD4D-8895-387DE026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CD9D9-1FD4-3845-B0B5-83167E2F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91D01-CA13-7040-8BD8-883E4D7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15F-9D22-5E4C-9E8F-982F12861CED}" type="datetime1">
              <a:rPr lang="en-US" smtClean="0"/>
              <a:t>10/30/22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3A81-8AF6-6A47-80AB-180AE0FB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4EB0B-C9E2-4A4F-90E2-BAB8BAC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A41D-6E5D-D248-B255-BD57AC0A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EA32C-4326-9542-980A-77062CFF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5F2F1-4661-2841-AA77-66C624CB3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88B07-4F2C-0345-AAA7-5CE2607E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0C24F-96C1-AC4B-8A6A-D472B396E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61F44-16A2-E94D-BF1F-1B92757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FCB4-3899-254D-84AE-BA989A880B62}" type="datetime1">
              <a:rPr lang="en-US" smtClean="0"/>
              <a:t>10/30/22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6ECD9-776D-CC4C-8E1F-B17A87ED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611A4-4B83-8644-A72D-7C8B088B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D11E-19FB-2F49-8491-456FF577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08D79-97CE-AB4F-934D-CED7DB59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E220-574A-2945-8BEF-3218BEAA04F4}" type="datetime1">
              <a:rPr lang="en-US" smtClean="0"/>
              <a:t>10/30/22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18688-CB82-E64D-B294-1890309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47835-7EC0-CF44-9A14-6ADDB5FD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F5C2A-7766-1E49-AB01-1A3D7AB2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A43E1-4E1F-FF4F-9DBF-B2790F3E8E8B}" type="datetime1">
              <a:rPr lang="en-US" smtClean="0"/>
              <a:t>10/30/22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C226-A928-EB42-BC6A-0F1D168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0734-9C4E-8943-B3DF-F5708BDB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5B89-C47C-644E-BFC6-CAEF3FDE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8FC1-14BF-324C-82F0-700AB96A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93F29-0531-D24E-AF5C-37F4DCF93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42E24-6153-2649-B56A-4F7CE3D3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D411-8EA9-1B47-958D-C8404FDD0818}" type="datetime1">
              <a:rPr lang="en-US" smtClean="0"/>
              <a:t>10/30/22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50A4-8073-5540-9E60-35D2875C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DCE8-A27F-844C-8246-CD335340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4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D05D-3757-C643-91D9-485ED3DD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FDC61-F6AC-2644-AC3E-D0D731CB2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63BA5-6526-3649-B7AC-E11D7844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D2371-95B6-A643-A402-C9D97C44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480A-2190-2A42-BF7E-2D7F75935119}" type="datetime1">
              <a:rPr lang="en-US" smtClean="0"/>
              <a:t>10/30/22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D2EE-6F9A-DB49-A9FF-B93E33A5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65B44-AFE1-6743-818D-FA0DCC0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853-A708-E84C-95B3-BE2685EC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67802-7041-6549-BD3C-9FB982F22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EBE-96A7-154F-AF45-5C722925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A304-1190-5847-937F-15F6A134E71A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70163-A0AF-4340-85DA-C05ECB8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DD39-9395-A547-A3F2-B0F036DB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42DD6-A04E-0A45-871C-DD82AAE8C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C1D5-7AC5-C848-A718-488703E2B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2A8B-5CBB-F345-A2C5-6F3DD095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353FC-EDC8-9D47-8D5B-5DBFDA5EBAA3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9CD0-99B9-0845-877D-683C4135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D771E-5F19-7347-AD53-64941522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4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0CC75-BCDA-A346-8281-910CFCA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BF0B-214F-EA43-9278-AAFD4044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D92B-01BF-844F-8DC5-AAB80BD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90D9-690C-7445-BECD-1276400AB7CD}" type="datetime1">
              <a:rPr lang="en-US" smtClean="0"/>
              <a:t>10/30/22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215F-20EF-9A49-9A16-4E75BB06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3E60-15EE-3846-8175-E662BE0C0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help/clion/running-and-debugging-shortcut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5930E-FE5D-0E44-A03B-5AE24E275941}"/>
              </a:ext>
            </a:extLst>
          </p:cNvPr>
          <p:cNvSpPr txBox="1">
            <a:spLocks/>
          </p:cNvSpPr>
          <p:nvPr/>
        </p:nvSpPr>
        <p:spPr>
          <a:xfrm>
            <a:off x="680343" y="1930591"/>
            <a:ext cx="10543917" cy="10628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nstantia"/>
                <a:cs typeface="Constantia"/>
              </a:rPr>
              <a:t>Lecture 24: IDE and Debugging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A23DA5-3DAB-0B4A-90B3-CF3057A9CD12}"/>
              </a:ext>
            </a:extLst>
          </p:cNvPr>
          <p:cNvSpPr txBox="1">
            <a:spLocks/>
          </p:cNvSpPr>
          <p:nvPr/>
        </p:nvSpPr>
        <p:spPr>
          <a:xfrm>
            <a:off x="680343" y="2923787"/>
            <a:ext cx="7930257" cy="1188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CSCI 260 Computer Systems &amp; Architecture</a:t>
            </a:r>
          </a:p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Fall 2022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FC8432-281D-1048-A632-A32F20F5AFD1}"/>
              </a:ext>
            </a:extLst>
          </p:cNvPr>
          <p:cNvSpPr txBox="1">
            <a:spLocks/>
          </p:cNvSpPr>
          <p:nvPr/>
        </p:nvSpPr>
        <p:spPr>
          <a:xfrm>
            <a:off x="680343" y="4377938"/>
            <a:ext cx="7930257" cy="48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400" dirty="0">
                <a:latin typeface="Constantia"/>
                <a:cs typeface="Constantia"/>
              </a:rPr>
              <a:t>Andy </a:t>
            </a:r>
            <a:r>
              <a:rPr lang="en-US" sz="2400" dirty="0" err="1">
                <a:latin typeface="Constantia"/>
                <a:cs typeface="Constantia"/>
              </a:rPr>
              <a:t>Siyuan</a:t>
            </a:r>
            <a:r>
              <a:rPr lang="en-US" sz="2400" dirty="0">
                <a:latin typeface="Constantia"/>
                <a:cs typeface="Constantia"/>
              </a:rPr>
              <a:t> Feng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FF6E17-02B9-764C-A0DD-D8894D2E31B1}"/>
              </a:ext>
            </a:extLst>
          </p:cNvPr>
          <p:cNvSpPr txBox="1">
            <a:spLocks/>
          </p:cNvSpPr>
          <p:nvPr/>
        </p:nvSpPr>
        <p:spPr>
          <a:xfrm>
            <a:off x="680343" y="4860502"/>
            <a:ext cx="7990733" cy="461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10/31/2022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90F61-2A63-1F42-950B-00F7A218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7330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The </a:t>
            </a:r>
            <a:r>
              <a:rPr lang="en-US" sz="3600" dirty="0" err="1">
                <a:solidFill>
                  <a:srgbClr val="0070C0"/>
                </a:solidFill>
                <a:latin typeface="Constantia" panose="02030602050306030303" pitchFamily="18" charset="0"/>
              </a:rPr>
              <a:t>CLion</a:t>
            </a:r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 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Similar to Eclipse to Java, requires as to first create a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Project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Menu  File  New  Project…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 Executable  Choose project location and Project Name 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							Language Standard C99  Create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Opens the project window. Can now build and run the Hello World program.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Now is time to test. </a:t>
            </a:r>
          </a:p>
          <a:p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If not working, try methods on next page.</a:t>
            </a:r>
          </a:p>
          <a:p>
            <a:pPr marL="514350" indent="-514350">
              <a:buFont typeface="+mj-lt"/>
              <a:buAutoNum type="arabicPeriod"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2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The </a:t>
            </a:r>
            <a:r>
              <a:rPr lang="en-US" sz="3600" dirty="0" err="1">
                <a:solidFill>
                  <a:srgbClr val="0070C0"/>
                </a:solidFill>
                <a:latin typeface="Constantia" panose="02030602050306030303" pitchFamily="18" charset="0"/>
              </a:rPr>
              <a:t>CLion</a:t>
            </a:r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 IDE: If not working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If you can build and run, ignore this page.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If CANNOT build or run:</a:t>
            </a:r>
          </a:p>
          <a:p>
            <a:pPr lvl="1"/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MAC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Probably haven’t accepted latest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Xcode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 User Agreement. </a:t>
            </a:r>
          </a:p>
          <a:p>
            <a:pPr marL="457200" lvl="1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Need to do so, and once done,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Tools  </a:t>
            </a:r>
            <a:r>
              <a:rPr lang="en-US" dirty="0" err="1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CMake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  Reload </a:t>
            </a:r>
            <a:r>
              <a:rPr lang="en-US" dirty="0" err="1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CMake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 Project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Windows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It is unlikely, but could be due to lack of C Compiler.</a:t>
            </a:r>
          </a:p>
          <a:p>
            <a:pPr marL="457200" lvl="1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check if that’s the case: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Preference  Build, Execution, Deployment  Toolchains 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Check if 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CMake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, Build Tool, C Compiler, and Debugger are all detected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 not, reinstall </a:t>
            </a:r>
            <a:r>
              <a:rPr lang="en-US" dirty="0" err="1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CLion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 might resolve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 </a:t>
            </a:r>
          </a:p>
          <a:p>
            <a:pPr marL="457200" lvl="1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457200" lvl="1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Otherwise, let me know; need to manually install one.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8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Debugging Mode in </a:t>
            </a:r>
            <a:r>
              <a:rPr lang="en-US" sz="3600" dirty="0" err="1">
                <a:solidFill>
                  <a:srgbClr val="0070C0"/>
                </a:solidFill>
                <a:latin typeface="Constantia" panose="02030602050306030303" pitchFamily="18" charset="0"/>
              </a:rPr>
              <a:t>CLion</a:t>
            </a:r>
            <a:endParaRPr lang="en-US" sz="3600" dirty="0">
              <a:solidFill>
                <a:srgbClr val="0070C0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make a breakpoint: Click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gray area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with line numbers;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red dot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appears.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cancel a breakpoint: Click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red dot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To enter debugging mode: Click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bug icon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on top-right corner.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0496C74-F3D2-A9C7-459E-0AB5CC515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592" y="2566101"/>
            <a:ext cx="3534761" cy="1725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547274-0D4D-9BB9-31FD-0995EC8D1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053" y="5437483"/>
            <a:ext cx="6210300" cy="533400"/>
          </a:xfrm>
          <a:prstGeom prst="rect">
            <a:avLst/>
          </a:prstGeom>
        </p:spPr>
      </p:pic>
      <p:pic>
        <p:nvPicPr>
          <p:cNvPr id="13" name="Picture 1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05CEDDBC-F50E-C3F4-B896-5704AA419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253" y="2514251"/>
            <a:ext cx="3534761" cy="182949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9B9DC-AE98-3A76-2BF1-9643DD0A2387}"/>
              </a:ext>
            </a:extLst>
          </p:cNvPr>
          <p:cNvCxnSpPr/>
          <p:nvPr/>
        </p:nvCxnSpPr>
        <p:spPr>
          <a:xfrm>
            <a:off x="4905633" y="3212757"/>
            <a:ext cx="28173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1530BD-ECE2-5A38-4460-DB9C30F5B215}"/>
              </a:ext>
            </a:extLst>
          </p:cNvPr>
          <p:cNvCxnSpPr>
            <a:cxnSpLocks/>
          </p:cNvCxnSpPr>
          <p:nvPr/>
        </p:nvCxnSpPr>
        <p:spPr>
          <a:xfrm flipH="1">
            <a:off x="4905633" y="3639728"/>
            <a:ext cx="28173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3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Debugging Mode in </a:t>
            </a:r>
            <a:r>
              <a:rPr lang="en-US" sz="3600" dirty="0" err="1">
                <a:solidFill>
                  <a:srgbClr val="0070C0"/>
                </a:solidFill>
                <a:latin typeface="Constantia" panose="02030602050306030303" pitchFamily="18" charset="0"/>
              </a:rPr>
              <a:t>CLion</a:t>
            </a:r>
            <a:endParaRPr lang="en-US" sz="3600" dirty="0">
              <a:solidFill>
                <a:srgbClr val="0070C0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Should now be in debugging mode.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Debugging window on lower-left:		The program now: </a:t>
            </a:r>
            <a:r>
              <a:rPr lang="en-US" dirty="0">
                <a:solidFill>
                  <a:srgbClr val="FFC000"/>
                </a:solidFill>
                <a:latin typeface="Constantia" panose="02030602050306030303" pitchFamily="18" charset="0"/>
                <a:sym typeface="Wingdings" pitchFamily="2" charset="2"/>
              </a:rPr>
              <a:t>indicating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  <a:latin typeface="Constantia" panose="02030602050306030303" pitchFamily="18" charset="0"/>
                <a:sym typeface="Wingdings" pitchFamily="2" charset="2"/>
              </a:rPr>
              <a:t>										current line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Now is time to test.</a:t>
            </a: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If NOT working (breakpoint is NOT hit), try method on next page.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pic>
        <p:nvPicPr>
          <p:cNvPr id="5" name="Picture 4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B14C786F-BE76-5E37-F2BE-9AE6A144C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01" y="2537026"/>
            <a:ext cx="5848097" cy="2368364"/>
          </a:xfrm>
          <a:prstGeom prst="rect">
            <a:avLst/>
          </a:prstGeom>
        </p:spPr>
      </p:pic>
      <p:pic>
        <p:nvPicPr>
          <p:cNvPr id="10" name="Picture 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0C3F0D04-8EA2-8747-C1AD-F152DBF5A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909" y="3176177"/>
            <a:ext cx="41275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5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Debugging Mode in </a:t>
            </a:r>
            <a:r>
              <a:rPr lang="en-US" sz="3600" dirty="0" err="1">
                <a:solidFill>
                  <a:srgbClr val="0070C0"/>
                </a:solidFill>
                <a:latin typeface="Constantia" panose="02030602050306030303" pitchFamily="18" charset="0"/>
              </a:rPr>
              <a:t>CLion</a:t>
            </a:r>
            <a:endParaRPr lang="en-US" sz="3600" dirty="0">
              <a:solidFill>
                <a:srgbClr val="0070C0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6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If debugging mode is entered, ignore this page.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If NOT working (breakpoint is NOT hit):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 Preference  Build, Execution, Deployment  </a:t>
            </a:r>
            <a:r>
              <a:rPr lang="en-US" dirty="0" err="1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CMake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 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under 	</a:t>
            </a:r>
            <a:r>
              <a:rPr lang="en-US" dirty="0" err="1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CMake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 options, copy and paste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-DCMAKE_BUILD_TYPE=Debug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 	click OK.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Test again; should now work.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Otherwise, delete/uninstall </a:t>
            </a:r>
            <a:r>
              <a:rPr lang="en-US" dirty="0" err="1">
                <a:latin typeface="Constantia" panose="02030602050306030303" pitchFamily="18" charset="0"/>
                <a:sym typeface="Wingdings" pitchFamily="2" charset="2"/>
              </a:rPr>
              <a:t>CLion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re-install.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36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Debugging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7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Again, similar to that in Eclipse, there are:</a:t>
            </a:r>
          </a:p>
          <a:p>
            <a:pPr marL="0" indent="0">
              <a:buNone/>
            </a:pPr>
            <a:r>
              <a:rPr lang="en-US" sz="2000" dirty="0">
                <a:latin typeface="Constantia" panose="02030602050306030303" pitchFamily="18" charset="0"/>
                <a:sym typeface="Wingdings" pitchFamily="2" charset="2"/>
              </a:rPr>
              <a:t>	For more detail: </a:t>
            </a:r>
            <a:r>
              <a:rPr lang="en-US" sz="2000" dirty="0">
                <a:latin typeface="Constantia" panose="02030602050306030303" pitchFamily="18" charset="0"/>
                <a:sym typeface="Wingdings" pitchFamily="2" charset="2"/>
                <a:hlinkClick r:id="rId3"/>
              </a:rPr>
              <a:t>https://www.jetbrains.com/help/clion/running-and-debugging-shortcuts.html</a:t>
            </a:r>
            <a:endParaRPr lang="en-US" sz="2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over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Into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Out</a:t>
            </a:r>
          </a:p>
          <a:p>
            <a:pPr lvl="1"/>
            <a:endParaRPr lang="en-US" sz="28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Resume Program</a:t>
            </a:r>
          </a:p>
          <a:p>
            <a:pPr lvl="1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Pause Program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Stop Program</a:t>
            </a:r>
          </a:p>
          <a:p>
            <a:pPr lvl="1"/>
            <a:endParaRPr lang="en-US" sz="2800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pic>
        <p:nvPicPr>
          <p:cNvPr id="3" name="Picture 2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5DFE9A11-804D-694E-7D2E-667DCF77B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08" y="2539313"/>
            <a:ext cx="7160712" cy="289994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F07DAF-286F-57A1-73B8-D25B0787AA4D}"/>
              </a:ext>
            </a:extLst>
          </p:cNvPr>
          <p:cNvCxnSpPr>
            <a:cxnSpLocks/>
          </p:cNvCxnSpPr>
          <p:nvPr/>
        </p:nvCxnSpPr>
        <p:spPr>
          <a:xfrm>
            <a:off x="2446638" y="2619632"/>
            <a:ext cx="4213654" cy="3089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37F3E5-8330-CDDF-8AAC-BB48D51FD41C}"/>
              </a:ext>
            </a:extLst>
          </p:cNvPr>
          <p:cNvCxnSpPr>
            <a:cxnSpLocks/>
          </p:cNvCxnSpPr>
          <p:nvPr/>
        </p:nvCxnSpPr>
        <p:spPr>
          <a:xfrm>
            <a:off x="2446638" y="3008870"/>
            <a:ext cx="4473146" cy="1222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75872504-DE35-FD83-25B9-932A94576F53}"/>
              </a:ext>
            </a:extLst>
          </p:cNvPr>
          <p:cNvSpPr/>
          <p:nvPr/>
        </p:nvSpPr>
        <p:spPr>
          <a:xfrm>
            <a:off x="2384854" y="3163330"/>
            <a:ext cx="5078627" cy="698937"/>
          </a:xfrm>
          <a:custGeom>
            <a:avLst/>
            <a:gdLst>
              <a:gd name="connsiteX0" fmla="*/ 0 w 5078627"/>
              <a:gd name="connsiteY0" fmla="*/ 296562 h 698937"/>
              <a:gd name="connsiteX1" fmla="*/ 3299254 w 5078627"/>
              <a:gd name="connsiteY1" fmla="*/ 691978 h 698937"/>
              <a:gd name="connsiteX2" fmla="*/ 5078627 w 5078627"/>
              <a:gd name="connsiteY2" fmla="*/ 0 h 698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8627" h="698937">
                <a:moveTo>
                  <a:pt x="0" y="296562"/>
                </a:moveTo>
                <a:cubicBezTo>
                  <a:pt x="1226408" y="518983"/>
                  <a:pt x="2452816" y="741405"/>
                  <a:pt x="3299254" y="691978"/>
                </a:cubicBezTo>
                <a:cubicBezTo>
                  <a:pt x="4145692" y="642551"/>
                  <a:pt x="4612159" y="321275"/>
                  <a:pt x="5078627" y="0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F824D9-265A-1497-5245-A2BD02A9BFFB}"/>
              </a:ext>
            </a:extLst>
          </p:cNvPr>
          <p:cNvCxnSpPr>
            <a:cxnSpLocks/>
          </p:cNvCxnSpPr>
          <p:nvPr/>
        </p:nvCxnSpPr>
        <p:spPr>
          <a:xfrm flipV="1">
            <a:off x="3583459" y="3552568"/>
            <a:ext cx="1099752" cy="83083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4D2AC5-9D59-439D-598A-FAF738465583}"/>
              </a:ext>
            </a:extLst>
          </p:cNvPr>
          <p:cNvCxnSpPr>
            <a:cxnSpLocks/>
          </p:cNvCxnSpPr>
          <p:nvPr/>
        </p:nvCxnSpPr>
        <p:spPr>
          <a:xfrm flipV="1">
            <a:off x="3237470" y="3894483"/>
            <a:ext cx="1445741" cy="878153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E01818-8419-116B-214E-F061DF1A70A2}"/>
              </a:ext>
            </a:extLst>
          </p:cNvPr>
          <p:cNvCxnSpPr>
            <a:cxnSpLocks/>
          </p:cNvCxnSpPr>
          <p:nvPr/>
        </p:nvCxnSpPr>
        <p:spPr>
          <a:xfrm flipV="1">
            <a:off x="3052119" y="4142750"/>
            <a:ext cx="1631092" cy="1052053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92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Debugging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8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over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Execute a single statement currently at; if function, fully execute it without getting into it (unless breakpoints in </a:t>
            </a:r>
            <a:r>
              <a:rPr lang="en-US" sz="2800" dirty="0" err="1">
                <a:latin typeface="Constantia" panose="02030602050306030303" pitchFamily="18" charset="0"/>
                <a:sym typeface="Wingdings" pitchFamily="2" charset="2"/>
              </a:rPr>
              <a:t>func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.)</a:t>
            </a:r>
          </a:p>
          <a:p>
            <a:pPr lvl="1"/>
            <a:endParaRPr lang="en-US" sz="2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Into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Get into the function currently being called.</a:t>
            </a:r>
          </a:p>
          <a:p>
            <a:pPr lvl="1"/>
            <a:endParaRPr lang="en-US" sz="2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Step Out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(When inside a function) finish executing current function.</a:t>
            </a:r>
          </a:p>
          <a:p>
            <a:pPr lvl="1"/>
            <a:endParaRPr lang="en-US" sz="28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Resume Program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Execute all statements from now on, until a breakpoint is hit or program halts.</a:t>
            </a:r>
          </a:p>
          <a:p>
            <a:pPr lvl="1"/>
            <a:endParaRPr lang="en-US" sz="2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Pause Program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Pause the program while it is running.</a:t>
            </a:r>
          </a:p>
          <a:p>
            <a:pPr lvl="1"/>
            <a:endParaRPr lang="en-US" sz="2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Stop Program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Abort program.</a:t>
            </a:r>
          </a:p>
          <a:p>
            <a:pPr lvl="1"/>
            <a:endParaRPr lang="en-US" sz="2800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6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Types of Bugs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9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Syntactic Errors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Input code is not legal. Can be caught by compiler and return error message without a successful build.</a:t>
            </a:r>
          </a:p>
          <a:p>
            <a:pPr lvl="2"/>
            <a:r>
              <a:rPr lang="en-US" sz="2400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: Missing semicolon; calling a function not defined or not defined as how it is called; etc.</a:t>
            </a:r>
          </a:p>
          <a:p>
            <a:pPr lvl="1"/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Semantic Errors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Code is legal, but not what is intended. Cannot be caught by compiler; hence, will need to debug.</a:t>
            </a:r>
          </a:p>
          <a:p>
            <a:pPr lvl="2"/>
            <a:r>
              <a:rPr lang="en-US" sz="2400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for (…)  factorial *=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 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(“%d\n”, factorial);</a:t>
            </a:r>
          </a:p>
          <a:p>
            <a:pPr lvl="2"/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Here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 is executed once due to lack of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{}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 to the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for-loop</a:t>
            </a:r>
            <a:r>
              <a:rPr lang="en-US" sz="2400" dirty="0">
                <a:latin typeface="Constantia" panose="02030602050306030303" pitchFamily="18" charset="0"/>
                <a:sym typeface="Wingdings" pitchFamily="2" charset="2"/>
              </a:rPr>
              <a:t>. </a:t>
            </a:r>
          </a:p>
          <a:p>
            <a:pPr lvl="1"/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Algorithmic Errors</a:t>
            </a:r>
            <a:r>
              <a:rPr lang="en-US" sz="2800" dirty="0">
                <a:latin typeface="Constantia" panose="02030602050306030303" pitchFamily="18" charset="0"/>
                <a:sym typeface="Wingdings" pitchFamily="2" charset="2"/>
              </a:rPr>
              <a:t>: Code is legal and does what is intended, but logic for problem solving is wrong. Cannot be caught by compiler; hence, need to debug AND check structure/flowchart.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8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10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BB048-E21E-F33E-DB46-DA1E675B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63" y="1253330"/>
            <a:ext cx="10739437" cy="4889561"/>
          </a:xfrm>
        </p:spPr>
        <p:txBody>
          <a:bodyPr>
            <a:normAutofit/>
          </a:bodyPr>
          <a:lstStyle/>
          <a:p>
            <a:r>
              <a:rPr lang="en-US" b="1" dirty="0">
                <a:latin typeface="Constantia" panose="02030602050306030303" pitchFamily="18" charset="0"/>
              </a:rPr>
              <a:t>Now: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Arrays, and </a:t>
            </a:r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</a:rPr>
              <a:t>Pointers! – the quintessential of C programming</a:t>
            </a:r>
            <a:endParaRPr lang="en-US" sz="2400" dirty="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marL="457200" lvl="1" indent="0">
              <a:buNone/>
            </a:pPr>
            <a:endParaRPr lang="en-US" sz="2800" dirty="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</a:rPr>
              <a:t>HW5 </a:t>
            </a:r>
            <a:r>
              <a:rPr lang="en-US" sz="2800" dirty="0">
                <a:latin typeface="Constantia" panose="02030602050306030303" pitchFamily="18" charset="0"/>
              </a:rPr>
              <a:t>due on 11/11 (F).</a:t>
            </a:r>
          </a:p>
        </p:txBody>
      </p:sp>
    </p:spTree>
    <p:extLst>
      <p:ext uri="{BB962C8B-B14F-4D97-AF65-F5344CB8AC3E}">
        <p14:creationId xmlns:p14="http://schemas.microsoft.com/office/powerpoint/2010/main" val="349532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9864</TotalTime>
  <Words>702</Words>
  <Application>Microsoft Macintosh PowerPoint</Application>
  <PresentationFormat>Widescreen</PresentationFormat>
  <Paragraphs>110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Constantia</vt:lpstr>
      <vt:lpstr>Office Theme</vt:lpstr>
      <vt:lpstr>PowerPoint Presentation</vt:lpstr>
      <vt:lpstr>The CLion IDE</vt:lpstr>
      <vt:lpstr>The CLion IDE: If not working</vt:lpstr>
      <vt:lpstr>Debugging Mode in CLion</vt:lpstr>
      <vt:lpstr>Debugging Mode in CLion</vt:lpstr>
      <vt:lpstr>Debugging Mode in CLion</vt:lpstr>
      <vt:lpstr>Debugging Actions</vt:lpstr>
      <vt:lpstr>Debugging Actions</vt:lpstr>
      <vt:lpstr>Types of Bugs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Feng, Siyuan</dc:creator>
  <cp:lastModifiedBy>Feng, Siyuan</cp:lastModifiedBy>
  <cp:revision>3541</cp:revision>
  <dcterms:created xsi:type="dcterms:W3CDTF">2022-02-01T22:15:00Z</dcterms:created>
  <dcterms:modified xsi:type="dcterms:W3CDTF">2022-10-30T22:56:31Z</dcterms:modified>
</cp:coreProperties>
</file>