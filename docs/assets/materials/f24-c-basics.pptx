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430" r:id="rId3"/>
    <p:sldId id="432" r:id="rId4"/>
    <p:sldId id="433" r:id="rId5"/>
    <p:sldId id="444" r:id="rId6"/>
    <p:sldId id="434" r:id="rId7"/>
    <p:sldId id="435" r:id="rId8"/>
    <p:sldId id="436" r:id="rId9"/>
    <p:sldId id="439" r:id="rId10"/>
    <p:sldId id="437" r:id="rId11"/>
    <p:sldId id="440" r:id="rId12"/>
    <p:sldId id="438" r:id="rId13"/>
    <p:sldId id="442" r:id="rId14"/>
    <p:sldId id="443" r:id="rId15"/>
    <p:sldId id="445" r:id="rId16"/>
    <p:sldId id="44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6272"/>
  </p:normalViewPr>
  <p:slideViewPr>
    <p:cSldViewPr snapToGrid="0" snapToObjects="1">
      <p:cViewPr varScale="1">
        <p:scale>
          <a:sx n="118" d="100"/>
          <a:sy n="118" d="100"/>
        </p:scale>
        <p:origin x="240" y="272"/>
      </p:cViewPr>
      <p:guideLst/>
    </p:cSldViewPr>
  </p:slideViewPr>
  <p:outlineViewPr>
    <p:cViewPr>
      <p:scale>
        <a:sx n="33" d="100"/>
        <a:sy n="33" d="100"/>
      </p:scale>
      <p:origin x="0" y="-60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95412-2A65-AB46-8F16-54367300B7D0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FA779-5BA2-7248-BAD4-E73FE27D2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7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8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90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61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17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98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55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11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55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05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93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61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09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2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4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FE77-2A3F-E546-ABD6-AEA8A4C9F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6B4DF-3A7D-8F4A-85E4-D17558597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157BB-0079-E34F-A0E4-089DED3C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09F19-F7D1-D648-87E5-63632F0489E0}" type="datetime1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A5544-17CD-DC4F-A071-B46D0B84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5CF82-1EEB-E841-86E0-F2C262D0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6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7BD8-A29E-DC4B-A51D-34727854D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4A653-CDA4-2F41-A19B-571CD538F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C2BF1-2556-8C48-A444-23BF4706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589-E2DB-D540-8530-1E0CFADE7BA5}" type="datetime1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B4A7-1EAB-BA4B-8CD6-F5D0C5D8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B47D9-EA5E-0249-9F6D-C2E5E61A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7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2D47-9772-A94E-8D32-DFC6C99B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78AFD-117C-6540-AAF4-6C93B3D1E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61A2-EB9C-754F-8E9D-0F6356CD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D7BF5-2494-5045-A397-495403F3C931}" type="datetime1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1F64-89EE-674A-928B-9AC62992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2B7A1-5AC6-3F4F-B552-8E3A1B1F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2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B42E-BCDC-BC45-9C1D-40FF6C2F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0EBC8-95D9-AD4D-8895-387DE026E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CD9D9-1FD4-3845-B0B5-83167E2F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91D01-CA13-7040-8BD8-883E4D71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E015F-9D22-5E4C-9E8F-982F12861CED}" type="datetime1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53A81-8AF6-6A47-80AB-180AE0FB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4EB0B-C9E2-4A4F-90E2-BAB8BACE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A41D-6E5D-D248-B255-BD57AC0AC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EA32C-4326-9542-980A-77062CFF8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5F2F1-4661-2841-AA77-66C624CB3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88B07-4F2C-0345-AAA7-5CE2607ED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0C24F-96C1-AC4B-8A6A-D472B396E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361F44-16A2-E94D-BF1F-1B92757B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FCB4-3899-254D-84AE-BA989A880B62}" type="datetime1">
              <a:rPr lang="en-US" smtClean="0"/>
              <a:t>11/13/24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6ECD9-776D-CC4C-8E1F-B17A87ED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9611A4-4B83-8644-A72D-7C8B088B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3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D11E-19FB-2F49-8491-456FF5775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08D79-97CE-AB4F-934D-CED7DB59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1E220-574A-2945-8BEF-3218BEAA04F4}" type="datetime1">
              <a:rPr lang="en-US" smtClean="0"/>
              <a:t>11/13/24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18688-CB82-E64D-B294-18903093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47835-7EC0-CF44-9A14-6ADDB5FD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F5C2A-7766-1E49-AB01-1A3D7AB2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A43E1-4E1F-FF4F-9DBF-B2790F3E8E8B}" type="datetime1">
              <a:rPr lang="en-US" smtClean="0"/>
              <a:t>11/13/24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C226-A928-EB42-BC6A-0F1D1683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40734-9C4E-8943-B3DF-F5708BDB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44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5B89-C47C-644E-BFC6-CAEF3FDE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8FC1-14BF-324C-82F0-700AB96A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93F29-0531-D24E-AF5C-37F4DCF93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42E24-6153-2649-B56A-4F7CE3D3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D411-8EA9-1B47-958D-C8404FDD0818}" type="datetime1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A50A4-8073-5540-9E60-35D2875C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DCE8-A27F-844C-8246-CD335340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4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D05D-3757-C643-91D9-485ED3DD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FDC61-F6AC-2644-AC3E-D0D731CB2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63BA5-6526-3649-B7AC-E11D78443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D2371-95B6-A643-A402-C9D97C44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480A-2190-2A42-BF7E-2D7F75935119}" type="datetime1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D2EE-6F9A-DB49-A9FF-B93E33A5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65B44-AFE1-6743-818D-FA0DCC04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4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8853-A708-E84C-95B3-BE2685EC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67802-7041-6549-BD3C-9FB982F22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EBE-96A7-154F-AF45-5C722925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A304-1190-5847-937F-15F6A134E71A}" type="datetime1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70163-A0AF-4340-85DA-C05ECB83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DD39-9395-A547-A3F2-B0F036DB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42DD6-A04E-0A45-871C-DD82AAE8C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8C1D5-7AC5-C848-A718-488703E2B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52A8B-5CBB-F345-A2C5-6F3DD095D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353FC-EDC8-9D47-8D5B-5DBFDA5EBAA3}" type="datetime1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99CD0-99B9-0845-877D-683C4135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D771E-5F19-7347-AD53-64941522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4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0CC75-BCDA-A346-8281-910CFCA4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CBF0B-214F-EA43-9278-AAFD4044A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DD92B-01BF-844F-8DC5-AAB80BD6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990D9-690C-7445-BECD-1276400AB7CD}" type="datetime1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2215F-20EF-9A49-9A16-4E75BB066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3E60-15EE-3846-8175-E662BE0C0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5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55930E-FE5D-0E44-A03B-5AE24E275941}"/>
              </a:ext>
            </a:extLst>
          </p:cNvPr>
          <p:cNvSpPr txBox="1">
            <a:spLocks/>
          </p:cNvSpPr>
          <p:nvPr/>
        </p:nvSpPr>
        <p:spPr>
          <a:xfrm>
            <a:off x="680343" y="1930591"/>
            <a:ext cx="10543917" cy="10628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onstantia"/>
                <a:cs typeface="Constantia"/>
              </a:rPr>
              <a:t>Lecture 21: C Basics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A23DA5-3DAB-0B4A-90B3-CF3057A9CD12}"/>
              </a:ext>
            </a:extLst>
          </p:cNvPr>
          <p:cNvSpPr txBox="1">
            <a:spLocks/>
          </p:cNvSpPr>
          <p:nvPr/>
        </p:nvSpPr>
        <p:spPr>
          <a:xfrm>
            <a:off x="680343" y="2923787"/>
            <a:ext cx="7930257" cy="11883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CSCI 260 Computer Systems &amp; Architecture</a:t>
            </a:r>
          </a:p>
          <a:p>
            <a:pPr algn="l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Fall 2022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9FC8432-281D-1048-A632-A32F20F5AFD1}"/>
              </a:ext>
            </a:extLst>
          </p:cNvPr>
          <p:cNvSpPr txBox="1">
            <a:spLocks/>
          </p:cNvSpPr>
          <p:nvPr/>
        </p:nvSpPr>
        <p:spPr>
          <a:xfrm>
            <a:off x="680343" y="4377938"/>
            <a:ext cx="7930257" cy="4825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2400" dirty="0">
                <a:latin typeface="Constantia"/>
                <a:cs typeface="Constantia"/>
              </a:rPr>
              <a:t>Andy </a:t>
            </a:r>
            <a:r>
              <a:rPr lang="en-US" sz="2400" dirty="0" err="1">
                <a:latin typeface="Constantia"/>
                <a:cs typeface="Constantia"/>
              </a:rPr>
              <a:t>Siyuan</a:t>
            </a:r>
            <a:r>
              <a:rPr lang="en-US" sz="2400" dirty="0">
                <a:latin typeface="Constantia"/>
                <a:cs typeface="Constantia"/>
              </a:rPr>
              <a:t> Feng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FF6E17-02B9-764C-A0DD-D8894D2E31B1}"/>
              </a:ext>
            </a:extLst>
          </p:cNvPr>
          <p:cNvSpPr txBox="1">
            <a:spLocks/>
          </p:cNvSpPr>
          <p:nvPr/>
        </p:nvSpPr>
        <p:spPr>
          <a:xfrm>
            <a:off x="680343" y="4860502"/>
            <a:ext cx="7990733" cy="4611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10/19/2022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90F61-2A63-1F42-950B-00F7A218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7330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1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Your First Ever C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2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Almost</a:t>
            </a:r>
            <a:r>
              <a:rPr lang="en-US" sz="24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 everything is quite similar to that in Java, and also simpler.</a:t>
            </a:r>
          </a:p>
          <a:p>
            <a:pPr marL="0" indent="0">
              <a:buNone/>
            </a:pPr>
            <a:endParaRPr lang="en-US" sz="1000" dirty="0">
              <a:solidFill>
                <a:srgbClr val="C0000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#include &lt;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stdio.h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&gt;	</a:t>
            </a: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&lt;-- [Similar to </a:t>
            </a:r>
            <a:r>
              <a:rPr lang="en-US" sz="2400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import</a:t>
            </a: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 in java, known as a </a:t>
            </a:r>
            <a:r>
              <a:rPr lang="en-US" sz="2400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header</a:t>
            </a: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. Contains 					function/variable definitions or code.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					“Standard Input/Output”, needed for </a:t>
            </a:r>
            <a:r>
              <a:rPr lang="en-US" sz="2400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.]</a:t>
            </a:r>
          </a:p>
          <a:p>
            <a:pPr marL="0" indent="0">
              <a:buNone/>
            </a:pPr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int main() {		</a:t>
            </a: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&lt;-- [The main function: has a return and can have </a:t>
            </a:r>
            <a:r>
              <a:rPr lang="en-US" sz="2400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args</a:t>
            </a: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.]</a:t>
            </a:r>
          </a:p>
          <a:p>
            <a:pPr marL="0" indent="0">
              <a:buNone/>
            </a:pPr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(“Hello World!\n”);	</a:t>
            </a: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&lt;-- [Uses \n as newline within “”.]</a:t>
            </a:r>
          </a:p>
          <a:p>
            <a:pPr marL="0" indent="0">
              <a:buNone/>
            </a:pPr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return 0;	</a:t>
            </a: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&lt;-- [The return value. Conventionally return 0 in main.]</a:t>
            </a:r>
          </a:p>
          <a:p>
            <a:pPr marL="0" indent="0">
              <a:buNone/>
            </a:pPr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}	</a:t>
            </a:r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&lt;-- [end with ; and embraced by {}.]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46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3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DE66288-4F98-964B-B61D-3ABC3092D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3830" y="1231263"/>
                <a:ext cx="11654790" cy="54444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(Major) </a:t>
                </a:r>
                <a:r>
                  <a:rPr lang="en-US" b="1" dirty="0">
                    <a:latin typeface="Constantia" panose="02030602050306030303" pitchFamily="18" charset="0"/>
                    <a:sym typeface="Wingdings" pitchFamily="2" charset="2"/>
                  </a:rPr>
                  <a:t>Data types and variable declaration</a:t>
                </a:r>
              </a:p>
              <a:p>
                <a:endParaRPr lang="en-US" sz="1000" dirty="0">
                  <a:latin typeface="Constantia" panose="02030602050306030303" pitchFamily="18" charset="0"/>
                  <a:sym typeface="Wingdings" pitchFamily="2" charset="2"/>
                </a:endParaRPr>
              </a:p>
              <a:p>
                <a:r>
                  <a:rPr lang="en-US" b="1" dirty="0">
                    <a:latin typeface="Constantia" panose="02030602050306030303" pitchFamily="18" charset="0"/>
                    <a:sym typeface="Wingdings" pitchFamily="2" charset="2"/>
                  </a:rPr>
                  <a:t>Integers</a:t>
                </a: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: 		</a:t>
                </a:r>
                <a:r>
                  <a:rPr lang="en-US" dirty="0">
                    <a:solidFill>
                      <a:srgbClr val="C00000"/>
                    </a:solidFill>
                    <a:latin typeface="Constantia" panose="02030602050306030303" pitchFamily="18" charset="0"/>
                    <a:sym typeface="Wingdings" pitchFamily="2" charset="2"/>
                  </a:rPr>
                  <a:t>int</a:t>
                </a: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 		signed, 2’s C	4 bytes </a:t>
                </a:r>
                <a:r>
                  <a:rPr lang="en-US" sz="2400" dirty="0">
                    <a:latin typeface="Constantia" panose="02030602050306030303" pitchFamily="18" charset="0"/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31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~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31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lang="en-US" sz="2400" dirty="0">
                    <a:latin typeface="Constantia" panose="02030602050306030303" pitchFamily="18" charset="0"/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			long		signed 2’s C		8 bytes</a:t>
                </a:r>
              </a:p>
              <a:p>
                <a:pPr marL="0" indent="0">
                  <a:buNone/>
                </a:pPr>
                <a:endParaRPr lang="en-US" sz="1000" dirty="0">
                  <a:latin typeface="Constantia" panose="02030602050306030303" pitchFamily="18" charset="0"/>
                  <a:sym typeface="Wingdings" pitchFamily="2" charset="2"/>
                </a:endParaRPr>
              </a:p>
              <a:p>
                <a:r>
                  <a:rPr lang="en-US" b="1" dirty="0">
                    <a:latin typeface="Constantia" panose="02030602050306030303" pitchFamily="18" charset="0"/>
                    <a:sym typeface="Wingdings" pitchFamily="2" charset="2"/>
                  </a:rPr>
                  <a:t>Fractions</a:t>
                </a: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:	</a:t>
                </a:r>
                <a:r>
                  <a:rPr lang="en-US" dirty="0">
                    <a:solidFill>
                      <a:srgbClr val="0070C0"/>
                    </a:solidFill>
                    <a:latin typeface="Constantia" panose="02030602050306030303" pitchFamily="18" charset="0"/>
                    <a:sym typeface="Wingdings" pitchFamily="2" charset="2"/>
                  </a:rPr>
                  <a:t>float</a:t>
                </a: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		signed, 2’s C	4 bytes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			</a:t>
                </a:r>
                <a:r>
                  <a:rPr lang="en-US" dirty="0">
                    <a:solidFill>
                      <a:srgbClr val="0070C0"/>
                    </a:solidFill>
                    <a:latin typeface="Constantia" panose="02030602050306030303" pitchFamily="18" charset="0"/>
                    <a:sym typeface="Wingdings" pitchFamily="2" charset="2"/>
                  </a:rPr>
                  <a:t>double</a:t>
                </a: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	signed, 2’s C	8 bytes</a:t>
                </a:r>
              </a:p>
              <a:p>
                <a:pPr marL="0" indent="0">
                  <a:buNone/>
                </a:pPr>
                <a:endParaRPr lang="en-US" sz="1000" dirty="0">
                  <a:latin typeface="Constantia" panose="02030602050306030303" pitchFamily="18" charset="0"/>
                  <a:sym typeface="Wingdings" pitchFamily="2" charset="2"/>
                </a:endParaRPr>
              </a:p>
              <a:p>
                <a:r>
                  <a:rPr lang="en-US" b="1" dirty="0">
                    <a:latin typeface="Constantia" panose="02030602050306030303" pitchFamily="18" charset="0"/>
                    <a:sym typeface="Wingdings" pitchFamily="2" charset="2"/>
                  </a:rPr>
                  <a:t>ASCII</a:t>
                </a: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:		</a:t>
                </a:r>
                <a:r>
                  <a:rPr lang="en-US" dirty="0">
                    <a:solidFill>
                      <a:srgbClr val="C00000"/>
                    </a:solidFill>
                    <a:latin typeface="Constantia" panose="02030602050306030303" pitchFamily="18" charset="0"/>
                    <a:sym typeface="Wingdings" pitchFamily="2" charset="2"/>
                  </a:rPr>
                  <a:t>char</a:t>
                </a: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		unsigned		1 byte (0~255)</a:t>
                </a:r>
              </a:p>
              <a:p>
                <a:endParaRPr lang="en-US" sz="1000" dirty="0">
                  <a:latin typeface="Constantia" panose="02030602050306030303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		</a:t>
                </a:r>
                <a:r>
                  <a:rPr lang="en-US" u="sng" dirty="0">
                    <a:latin typeface="Constantia" panose="02030602050306030303" pitchFamily="18" charset="0"/>
                    <a:sym typeface="Wingdings" pitchFamily="2" charset="2"/>
                  </a:rPr>
                  <a:t>Note</a:t>
                </a: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: </a:t>
                </a:r>
                <a:r>
                  <a:rPr lang="en-US" dirty="0">
                    <a:solidFill>
                      <a:srgbClr val="C00000"/>
                    </a:solidFill>
                    <a:latin typeface="Constantia" panose="02030602050306030303" pitchFamily="18" charset="0"/>
                    <a:sym typeface="Wingdings" pitchFamily="2" charset="2"/>
                  </a:rPr>
                  <a:t>NO String</a:t>
                </a:r>
                <a:r>
                  <a:rPr lang="en-US" dirty="0">
                    <a:latin typeface="Constantia" panose="02030602050306030303" pitchFamily="18" charset="0"/>
                    <a:sym typeface="Wingdings" pitchFamily="2" charset="2"/>
                  </a:rPr>
                  <a:t> datatype in C! Two alternatives using char.</a:t>
                </a:r>
              </a:p>
              <a:p>
                <a:endParaRPr lang="en-US" sz="2400" dirty="0">
                  <a:latin typeface="Constantia" panose="02030602050306030303" pitchFamily="18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DE66288-4F98-964B-B61D-3ABC3092D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830" y="1231263"/>
                <a:ext cx="11654790" cy="5444491"/>
              </a:xfrm>
              <a:blipFill>
                <a:blip r:embed="rId3"/>
                <a:stretch>
                  <a:fillRect l="-1088" t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2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4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(Major) 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Data types and variable declaration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num;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bin_pos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0b100111;	[39. Add – make -39.]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Location = 0x3000;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float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pi = 3.14159;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double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avogadro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6.02e23;	// 6.02 x 10^23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mode_c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‘C’;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mode_d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67;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mode_h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0x43;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mode_h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‘\x43’; </a:t>
            </a:r>
          </a:p>
          <a:p>
            <a:pPr marL="0" indent="0">
              <a:buNone/>
            </a:pP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28C397-AA1A-8F6B-2F96-92FF05A22734}"/>
              </a:ext>
            </a:extLst>
          </p:cNvPr>
          <p:cNvSpPr txBox="1"/>
          <p:nvPr/>
        </p:nvSpPr>
        <p:spPr>
          <a:xfrm>
            <a:off x="7616296" y="322262"/>
            <a:ext cx="39022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</a:rPr>
              <a:t>Var. names at most 31 chars.</a:t>
            </a:r>
          </a:p>
          <a:p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</a:rPr>
              <a:t>Not same as reserved words.</a:t>
            </a:r>
          </a:p>
          <a:p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</a:rPr>
              <a:t>Not starting with a number.</a:t>
            </a:r>
          </a:p>
        </p:txBody>
      </p:sp>
    </p:spTree>
    <p:extLst>
      <p:ext uri="{BB962C8B-B14F-4D97-AF65-F5344CB8AC3E}">
        <p14:creationId xmlns:p14="http://schemas.microsoft.com/office/powerpoint/2010/main" val="666006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5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(Major) 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Data types and variable declaration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Variables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defined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with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constant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values that are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final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#include &lt;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stdio.h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&gt;			… …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#define NUM 30				const int LENGTH = 5;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#define DIV 6				const int HEIGHT = 12;</a:t>
            </a:r>
          </a:p>
          <a:p>
            <a:pPr marL="0" indent="0">
              <a:buNone/>
            </a:pPr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int main() {					… …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… …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52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6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Printing variables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In Java, mixing strings with variables to print: 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System.out.println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 “res = a x b = ” + …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num_a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+ “ x ” +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num_b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+ “= ” + res + “.” );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In C, specifiers are used (in fact Java also has this mode):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(“res = a x b =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%d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x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%d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=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%d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.”, </a:t>
            </a:r>
            <a:r>
              <a:rPr lang="en-US" dirty="0" err="1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num_a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num_b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,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res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83CF232B-36E5-61F0-26F1-0A182FDC4A88}"/>
              </a:ext>
            </a:extLst>
          </p:cNvPr>
          <p:cNvSpPr/>
          <p:nvPr/>
        </p:nvSpPr>
        <p:spPr>
          <a:xfrm>
            <a:off x="4625803" y="4757351"/>
            <a:ext cx="2730843" cy="679868"/>
          </a:xfrm>
          <a:custGeom>
            <a:avLst/>
            <a:gdLst>
              <a:gd name="connsiteX0" fmla="*/ 2730843 w 2730843"/>
              <a:gd name="connsiteY0" fmla="*/ 61784 h 679868"/>
              <a:gd name="connsiteX1" fmla="*/ 877329 w 2730843"/>
              <a:gd name="connsiteY1" fmla="*/ 679622 h 679868"/>
              <a:gd name="connsiteX2" fmla="*/ 0 w 2730843"/>
              <a:gd name="connsiteY2" fmla="*/ 0 h 67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0843" h="679868">
                <a:moveTo>
                  <a:pt x="2730843" y="61784"/>
                </a:moveTo>
                <a:cubicBezTo>
                  <a:pt x="2031656" y="375851"/>
                  <a:pt x="1332469" y="689919"/>
                  <a:pt x="877329" y="679622"/>
                </a:cubicBezTo>
                <a:cubicBezTo>
                  <a:pt x="422189" y="669325"/>
                  <a:pt x="211094" y="334662"/>
                  <a:pt x="0" y="0"/>
                </a:cubicBezTo>
              </a:path>
            </a:pathLst>
          </a:custGeom>
          <a:noFill/>
          <a:ln w="1905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705124C-48E3-4371-9589-A56B5DA220C1}"/>
              </a:ext>
            </a:extLst>
          </p:cNvPr>
          <p:cNvSpPr/>
          <p:nvPr/>
        </p:nvSpPr>
        <p:spPr>
          <a:xfrm>
            <a:off x="5445932" y="4757351"/>
            <a:ext cx="2730843" cy="679868"/>
          </a:xfrm>
          <a:custGeom>
            <a:avLst/>
            <a:gdLst>
              <a:gd name="connsiteX0" fmla="*/ 2730843 w 2730843"/>
              <a:gd name="connsiteY0" fmla="*/ 61784 h 679868"/>
              <a:gd name="connsiteX1" fmla="*/ 877329 w 2730843"/>
              <a:gd name="connsiteY1" fmla="*/ 679622 h 679868"/>
              <a:gd name="connsiteX2" fmla="*/ 0 w 2730843"/>
              <a:gd name="connsiteY2" fmla="*/ 0 h 67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0843" h="679868">
                <a:moveTo>
                  <a:pt x="2730843" y="61784"/>
                </a:moveTo>
                <a:cubicBezTo>
                  <a:pt x="2031656" y="375851"/>
                  <a:pt x="1332469" y="689919"/>
                  <a:pt x="877329" y="679622"/>
                </a:cubicBezTo>
                <a:cubicBezTo>
                  <a:pt x="422189" y="669325"/>
                  <a:pt x="211094" y="334662"/>
                  <a:pt x="0" y="0"/>
                </a:cubicBezTo>
              </a:path>
            </a:pathLst>
          </a:custGeom>
          <a:noFill/>
          <a:ln w="1905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E1527A0-309D-A54B-EF06-214AD7B9C3AB}"/>
              </a:ext>
            </a:extLst>
          </p:cNvPr>
          <p:cNvSpPr/>
          <p:nvPr/>
        </p:nvSpPr>
        <p:spPr>
          <a:xfrm>
            <a:off x="6446725" y="4757351"/>
            <a:ext cx="2730843" cy="679868"/>
          </a:xfrm>
          <a:custGeom>
            <a:avLst/>
            <a:gdLst>
              <a:gd name="connsiteX0" fmla="*/ 2730843 w 2730843"/>
              <a:gd name="connsiteY0" fmla="*/ 61784 h 679868"/>
              <a:gd name="connsiteX1" fmla="*/ 877329 w 2730843"/>
              <a:gd name="connsiteY1" fmla="*/ 679622 h 679868"/>
              <a:gd name="connsiteX2" fmla="*/ 0 w 2730843"/>
              <a:gd name="connsiteY2" fmla="*/ 0 h 67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0843" h="679868">
                <a:moveTo>
                  <a:pt x="2730843" y="61784"/>
                </a:moveTo>
                <a:cubicBezTo>
                  <a:pt x="2031656" y="375851"/>
                  <a:pt x="1332469" y="689919"/>
                  <a:pt x="877329" y="679622"/>
                </a:cubicBezTo>
                <a:cubicBezTo>
                  <a:pt x="422189" y="669325"/>
                  <a:pt x="211094" y="334662"/>
                  <a:pt x="0" y="0"/>
                </a:cubicBezTo>
              </a:path>
            </a:pathLst>
          </a:custGeom>
          <a:noFill/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4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7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Printing variables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Integers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		%d</a:t>
            </a:r>
            <a:endParaRPr lang="en-US" sz="24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long		%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ld</a:t>
            </a: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Fractions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float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%f		%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.</a:t>
            </a:r>
            <a:r>
              <a:rPr lang="en-US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n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f</a:t>
            </a: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double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%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lf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%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.</a:t>
            </a:r>
            <a:r>
              <a:rPr lang="en-US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n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lf</a:t>
            </a: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ASCII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	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%c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u="sng" dirty="0">
                <a:latin typeface="Constantia" panose="02030602050306030303" pitchFamily="18" charset="0"/>
                <a:sym typeface="Wingdings" pitchFamily="2" charset="2"/>
              </a:rPr>
              <a:t>Note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NO String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datatype in C! Two alternatives using char.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String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%s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14140E-9194-6B83-1AE7-2F3FC8A4DD6B}"/>
              </a:ext>
            </a:extLst>
          </p:cNvPr>
          <p:cNvSpPr txBox="1"/>
          <p:nvPr/>
        </p:nvSpPr>
        <p:spPr>
          <a:xfrm>
            <a:off x="7833829" y="2753179"/>
            <a:ext cx="3984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Constantia" panose="02030602050306030303" pitchFamily="18" charset="0"/>
              </a:rPr>
              <a:t>Num. of digits to the right of the decimal point that will be printed out.</a:t>
            </a:r>
          </a:p>
        </p:txBody>
      </p:sp>
    </p:spTree>
    <p:extLst>
      <p:ext uri="{BB962C8B-B14F-4D97-AF65-F5344CB8AC3E}">
        <p14:creationId xmlns:p14="http://schemas.microsoft.com/office/powerpoint/2010/main" val="54014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8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Scope of variables</a:t>
            </a:r>
            <a:endParaRPr lang="en-US" sz="1000" b="1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#include &lt;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stdio.h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&gt;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sz="22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int </a:t>
            </a:r>
            <a:r>
              <a:rPr lang="en-US" sz="2200" dirty="0" err="1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itsGlobal</a:t>
            </a:r>
            <a:r>
              <a:rPr lang="en-US" sz="22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 = 5;		// global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int main 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sz="22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int </a:t>
            </a:r>
            <a:r>
              <a:rPr lang="en-US" sz="2200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itsLocal</a:t>
            </a:r>
            <a:r>
              <a:rPr lang="en-US" sz="2200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 = 1;	// local to main function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sz="22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int </a:t>
            </a:r>
            <a:r>
              <a:rPr lang="en-US" sz="2200" dirty="0" err="1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itsLocal</a:t>
            </a:r>
            <a:r>
              <a:rPr lang="en-US" sz="22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 = 2;	// local to this block!!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sz="2200" dirty="0" err="1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itsGlobal</a:t>
            </a:r>
            <a:r>
              <a:rPr lang="en-US" sz="22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 = 10;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// changes globally!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(“Global=%d Local=%d\n”, </a:t>
            </a:r>
            <a:r>
              <a:rPr lang="en-US" sz="2200" dirty="0" err="1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itsGlobal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, </a:t>
            </a:r>
            <a:r>
              <a:rPr lang="en-US" sz="2200" dirty="0" err="1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itsLocal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}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(“Global=%d Local=%d\n”, </a:t>
            </a:r>
            <a:r>
              <a:rPr lang="en-US" sz="2200" dirty="0" err="1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itsGlobal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, </a:t>
            </a:r>
            <a:r>
              <a:rPr lang="en-US" sz="2200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itsLocal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return 0;	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CF187-1959-F27F-2575-2655EE800321}"/>
              </a:ext>
            </a:extLst>
          </p:cNvPr>
          <p:cNvCxnSpPr/>
          <p:nvPr/>
        </p:nvCxnSpPr>
        <p:spPr>
          <a:xfrm flipH="1" flipV="1">
            <a:off x="4732638" y="4522573"/>
            <a:ext cx="2730843" cy="27184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E12240-D1A4-CFD6-D85D-63115B740D5C}"/>
              </a:ext>
            </a:extLst>
          </p:cNvPr>
          <p:cNvCxnSpPr>
            <a:cxnSpLocks/>
          </p:cNvCxnSpPr>
          <p:nvPr/>
        </p:nvCxnSpPr>
        <p:spPr>
          <a:xfrm flipH="1" flipV="1">
            <a:off x="4732638" y="4633784"/>
            <a:ext cx="1890584" cy="99295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53F171-697F-9650-7398-4D23B61F47DC}"/>
              </a:ext>
            </a:extLst>
          </p:cNvPr>
          <p:cNvCxnSpPr>
            <a:cxnSpLocks/>
          </p:cNvCxnSpPr>
          <p:nvPr/>
        </p:nvCxnSpPr>
        <p:spPr>
          <a:xfrm flipH="1" flipV="1">
            <a:off x="4880919" y="4127157"/>
            <a:ext cx="3729681" cy="667265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2584535D-4EFE-B62D-D0D8-F7C3B92B9DE2}"/>
              </a:ext>
            </a:extLst>
          </p:cNvPr>
          <p:cNvSpPr/>
          <p:nvPr/>
        </p:nvSpPr>
        <p:spPr>
          <a:xfrm>
            <a:off x="6941312" y="3218935"/>
            <a:ext cx="3273298" cy="2483708"/>
          </a:xfrm>
          <a:custGeom>
            <a:avLst/>
            <a:gdLst>
              <a:gd name="connsiteX0" fmla="*/ 1445740 w 3273298"/>
              <a:gd name="connsiteY0" fmla="*/ 2483708 h 2483708"/>
              <a:gd name="connsiteX1" fmla="*/ 3237470 w 3273298"/>
              <a:gd name="connsiteY1" fmla="*/ 630194 h 2483708"/>
              <a:gd name="connsiteX2" fmla="*/ 0 w 3273298"/>
              <a:gd name="connsiteY2" fmla="*/ 0 h 2483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3298" h="2483708">
                <a:moveTo>
                  <a:pt x="1445740" y="2483708"/>
                </a:moveTo>
                <a:cubicBezTo>
                  <a:pt x="2462083" y="1763926"/>
                  <a:pt x="3478427" y="1044145"/>
                  <a:pt x="3237470" y="630194"/>
                </a:cubicBezTo>
                <a:cubicBezTo>
                  <a:pt x="2996513" y="216243"/>
                  <a:pt x="1498256" y="108121"/>
                  <a:pt x="0" y="0"/>
                </a:cubicBezTo>
              </a:path>
            </a:pathLst>
          </a:custGeom>
          <a:noFill/>
          <a:ln w="1905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7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9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Printing variables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int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counter = 0;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Location = 0x3000;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(“Current PC: %x, counter = %d\n”, Location, counter);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const float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pi = 3.14159;	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(“pi = %f\n”, pi);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mode_c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‘C’;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   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mode_d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67;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mode_h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0x43;  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mode_h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= ‘\x43’; 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(“Mode: %c\n”, mode_?);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78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10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Operations</a:t>
            </a:r>
          </a:p>
          <a:p>
            <a:pPr marL="0" indent="0">
              <a:buNone/>
            </a:pPr>
            <a:endParaRPr lang="en-US" sz="1000" b="1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Arithmetic: +, -, *		Assignment: =, +=, -=, *=, /=, %=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Division /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q = 245/10 = 24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double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q = 245/10 = 24.00000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double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q =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(double)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245/10 = 24.500000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        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[Type Casting]</a:t>
            </a:r>
          </a:p>
          <a:p>
            <a:pPr marL="0" indent="0">
              <a:buNone/>
            </a:pPr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Remainder (Mod) %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245%10 = 5</a:t>
            </a:r>
          </a:p>
          <a:p>
            <a:pPr marL="0" indent="0">
              <a:buNone/>
            </a:pP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2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11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Operations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Increment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++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and Decrement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--</a:t>
            </a:r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x++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post-increment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use value then increment.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x--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same idea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++x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pre-increment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increment then new use value.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--x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same idea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x = 4;			x = 4;	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y = x++;		y = ++x;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Results: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x = 5			x = y = 5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	y = 4</a:t>
            </a: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75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12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Operations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Bitwise Logic: treat operand(s) as in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2’s complement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NOT		~x			~2 = -3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AND		x &amp; y			7 &amp; 8 = 0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OR		x | y			7 | 8 = 15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XOR		x ^ y			7 ^ 9 = 14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left shift	x &lt;&lt; y			2 &lt;&lt; 1 = 4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right shift	x &gt;&gt; y			8 &gt;&gt; 1 = 4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u="sng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Note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: ^ is not exponentiation.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A120A9-9DF1-72E0-D44E-5F1191CB10BF}"/>
              </a:ext>
            </a:extLst>
          </p:cNvPr>
          <p:cNvSpPr txBox="1"/>
          <p:nvPr/>
        </p:nvSpPr>
        <p:spPr>
          <a:xfrm>
            <a:off x="7664085" y="2742338"/>
            <a:ext cx="41545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  <a:latin typeface="Constantia" panose="02030602050306030303" pitchFamily="18" charset="0"/>
              </a:rPr>
              <a:t>Note</a:t>
            </a:r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</a:rPr>
              <a:t>: These are different from</a:t>
            </a:r>
          </a:p>
          <a:p>
            <a:r>
              <a:rPr lang="en-US" sz="2400" dirty="0">
                <a:solidFill>
                  <a:srgbClr val="C00000"/>
                </a:solidFill>
                <a:latin typeface="Constantia" panose="02030602050306030303" pitchFamily="18" charset="0"/>
              </a:rPr>
              <a:t>&amp;&amp;</a:t>
            </a:r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</a:rPr>
              <a:t> (AND), </a:t>
            </a:r>
            <a:r>
              <a:rPr lang="en-US" sz="2400" dirty="0">
                <a:solidFill>
                  <a:srgbClr val="C00000"/>
                </a:solidFill>
                <a:latin typeface="Constantia" panose="02030602050306030303" pitchFamily="18" charset="0"/>
              </a:rPr>
              <a:t>||</a:t>
            </a:r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</a:rPr>
              <a:t> (OR), </a:t>
            </a:r>
            <a:r>
              <a:rPr lang="en-US" sz="2400" dirty="0">
                <a:solidFill>
                  <a:srgbClr val="C00000"/>
                </a:solidFill>
                <a:latin typeface="Constantia" panose="02030602050306030303" pitchFamily="18" charset="0"/>
              </a:rPr>
              <a:t>!</a:t>
            </a:r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</a:rPr>
              <a:t> (NOT)</a:t>
            </a:r>
          </a:p>
          <a:p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</a:rPr>
              <a:t>for logical conditions in loops</a:t>
            </a:r>
          </a:p>
          <a:p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</a:rPr>
              <a:t>and if statement.</a:t>
            </a:r>
          </a:p>
        </p:txBody>
      </p:sp>
    </p:spTree>
    <p:extLst>
      <p:ext uri="{BB962C8B-B14F-4D97-AF65-F5344CB8AC3E}">
        <p14:creationId xmlns:p14="http://schemas.microsoft.com/office/powerpoint/2010/main" val="355206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13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Operations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Logical Operators: treat operand(s) as either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True or False statement(s)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NOT		!x			!(x &lt;= 2)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AND		x &amp;&amp; y		((mode == ‘E’) &amp;&amp; (key != 0))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OR		x || y			((counter &gt; 0) || (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input_char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&gt; 0x40 ))</a:t>
            </a:r>
          </a:p>
          <a:p>
            <a:pPr marL="0" indent="0">
              <a:buNone/>
            </a:pP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Relational: &gt;, &gt;=, &lt;, &lt;=, ==, !=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Results in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True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of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False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that can then be used with logical operators.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C80AC01-658F-F6BA-7BD7-405967203B04}"/>
              </a:ext>
            </a:extLst>
          </p:cNvPr>
          <p:cNvCxnSpPr>
            <a:cxnSpLocks/>
          </p:cNvCxnSpPr>
          <p:nvPr/>
        </p:nvCxnSpPr>
        <p:spPr>
          <a:xfrm flipH="1" flipV="1">
            <a:off x="7015163" y="4257675"/>
            <a:ext cx="2486025" cy="111442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F93E00-E6B6-84A5-EFE2-E8ADF75FBD9D}"/>
              </a:ext>
            </a:extLst>
          </p:cNvPr>
          <p:cNvCxnSpPr>
            <a:cxnSpLocks/>
          </p:cNvCxnSpPr>
          <p:nvPr/>
        </p:nvCxnSpPr>
        <p:spPr>
          <a:xfrm flipV="1">
            <a:off x="9501188" y="4257675"/>
            <a:ext cx="500062" cy="111442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57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14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Operations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Operations from Library:</a:t>
            </a: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	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#include &lt;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math.h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&gt;</a:t>
            </a:r>
          </a:p>
          <a:p>
            <a:pPr marL="0" indent="0">
              <a:buNone/>
            </a:pPr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pow(base, exponent)	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double x = pow(2,4);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sqrt(x)			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double y = sqrt(10);</a:t>
            </a:r>
          </a:p>
          <a:p>
            <a:endParaRPr lang="en-US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(“x=%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lf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\n”, y);		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3.162278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(“x=%.20lf\n”, y);		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3.16227766016837952279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61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15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094421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Arrays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In Java, to declare an empty array: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int[]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anArray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= new int[20];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In C, to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declare an empty array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anArray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[20];	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any datatype</a:t>
            </a:r>
          </a:p>
          <a:p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Similarly, can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initialize an array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with its elements: 							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int Primes20[] = {2, 3, 5, 7, 11, 13, 17, 19};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Array elements are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accessed through bracket and index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			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Primes20[0] = 2, Primes20[6] = 17, etc.</a:t>
            </a:r>
          </a:p>
          <a:p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Can also declare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multi-dimensional arrays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float fractions[5][10]…</a:t>
            </a: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D2BEA6F3-F933-70EE-E568-4112D289ADCD}"/>
              </a:ext>
            </a:extLst>
          </p:cNvPr>
          <p:cNvSpPr/>
          <p:nvPr/>
        </p:nvSpPr>
        <p:spPr>
          <a:xfrm>
            <a:off x="5557838" y="2557135"/>
            <a:ext cx="3743325" cy="257503"/>
          </a:xfrm>
          <a:custGeom>
            <a:avLst/>
            <a:gdLst>
              <a:gd name="connsiteX0" fmla="*/ 3743325 w 3743325"/>
              <a:gd name="connsiteY0" fmla="*/ 214640 h 257503"/>
              <a:gd name="connsiteX1" fmla="*/ 2114550 w 3743325"/>
              <a:gd name="connsiteY1" fmla="*/ 328 h 257503"/>
              <a:gd name="connsiteX2" fmla="*/ 0 w 3743325"/>
              <a:gd name="connsiteY2" fmla="*/ 257503 h 257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3325" h="257503">
                <a:moveTo>
                  <a:pt x="3743325" y="214640"/>
                </a:moveTo>
                <a:cubicBezTo>
                  <a:pt x="3240881" y="103912"/>
                  <a:pt x="2738437" y="-6816"/>
                  <a:pt x="2114550" y="328"/>
                </a:cubicBezTo>
                <a:cubicBezTo>
                  <a:pt x="1490663" y="7472"/>
                  <a:pt x="745331" y="132487"/>
                  <a:pt x="0" y="257503"/>
                </a:cubicBezTo>
              </a:path>
            </a:pathLst>
          </a:custGeom>
          <a:noFill/>
          <a:ln w="1905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36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Variables and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16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Arrays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Speaking of array, what is an array made of chars?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A String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!!</a:t>
            </a: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Recall, a string in LC-3 is a bunch of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chars in consecutive memory locations terminated with null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This is exactly (one way) what a string is in C as well.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Can simply initialize as: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char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myString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[] = “Hello there!”;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Each array location is the corresponding char: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myString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[0] = ‘H’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Or,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.STRINGZ #20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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char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myString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[20];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14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8899</TotalTime>
  <Words>1593</Words>
  <Application>Microsoft Macintosh PowerPoint</Application>
  <PresentationFormat>Widescreen</PresentationFormat>
  <Paragraphs>221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Constantia</vt:lpstr>
      <vt:lpstr>Office Theme</vt:lpstr>
      <vt:lpstr>PowerPoint Presentation</vt:lpstr>
      <vt:lpstr>Your First Ever C Program</vt:lpstr>
      <vt:lpstr>Variables and Operations</vt:lpstr>
      <vt:lpstr>Variables and Operations</vt:lpstr>
      <vt:lpstr>Variables and Operations</vt:lpstr>
      <vt:lpstr>Variables and Operations</vt:lpstr>
      <vt:lpstr>Variables and Operations</vt:lpstr>
      <vt:lpstr>Variables and Operations</vt:lpstr>
      <vt:lpstr>Variables and Operations</vt:lpstr>
      <vt:lpstr>Variables and Operations</vt:lpstr>
      <vt:lpstr>Variables and Operations</vt:lpstr>
      <vt:lpstr>Variables and Operations</vt:lpstr>
      <vt:lpstr>Variables and Operations</vt:lpstr>
      <vt:lpstr>Variables and Operations</vt:lpstr>
      <vt:lpstr>Variables and Operations</vt:lpstr>
      <vt:lpstr>Variables and Operations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Feng, Siyuan</dc:creator>
  <cp:lastModifiedBy>Valerie Feng</cp:lastModifiedBy>
  <cp:revision>3285</cp:revision>
  <dcterms:created xsi:type="dcterms:W3CDTF">2022-02-01T22:15:00Z</dcterms:created>
  <dcterms:modified xsi:type="dcterms:W3CDTF">2024-11-13T18:36:51Z</dcterms:modified>
</cp:coreProperties>
</file>