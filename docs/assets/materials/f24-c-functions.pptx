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432" r:id="rId3"/>
    <p:sldId id="433" r:id="rId4"/>
    <p:sldId id="434" r:id="rId5"/>
    <p:sldId id="436" r:id="rId6"/>
    <p:sldId id="435" r:id="rId7"/>
    <p:sldId id="437" r:id="rId8"/>
    <p:sldId id="439" r:id="rId9"/>
    <p:sldId id="440" r:id="rId10"/>
    <p:sldId id="438" r:id="rId11"/>
    <p:sldId id="4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54"/>
    <p:restoredTop sz="96177"/>
  </p:normalViewPr>
  <p:slideViewPr>
    <p:cSldViewPr snapToGrid="0" snapToObjects="1">
      <p:cViewPr varScale="1">
        <p:scale>
          <a:sx n="96" d="100"/>
          <a:sy n="96" d="100"/>
        </p:scale>
        <p:origin x="184" y="2400"/>
      </p:cViewPr>
      <p:guideLst/>
    </p:cSldViewPr>
  </p:slideViewPr>
  <p:outlineViewPr>
    <p:cViewPr>
      <p:scale>
        <a:sx n="33" d="100"/>
        <a:sy n="33" d="100"/>
      </p:scale>
      <p:origin x="0" y="-60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95412-2A65-AB46-8F16-54367300B7D0}" type="datetimeFigureOut">
              <a:rPr lang="en-US" smtClean="0"/>
              <a:t>10/27/22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FA779-5BA2-7248-BAD4-E73FE27D2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7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8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51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0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92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32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27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44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20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56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FE77-2A3F-E546-ABD6-AEA8A4C9F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6B4DF-3A7D-8F4A-85E4-D17558597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157BB-0079-E34F-A0E4-089DED3C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09F19-F7D1-D648-87E5-63632F0489E0}" type="datetime1">
              <a:rPr lang="en-US" smtClean="0"/>
              <a:t>10/27/22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A5544-17CD-DC4F-A071-B46D0B84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5CF82-1EEB-E841-86E0-F2C262D0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6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7BD8-A29E-DC4B-A51D-34727854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A653-CDA4-2F41-A19B-571CD538F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C2BF1-2556-8C48-A444-23BF4706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589-E2DB-D540-8530-1E0CFADE7BA5}" type="datetime1">
              <a:rPr lang="en-US" smtClean="0"/>
              <a:t>10/27/22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B4A7-1EAB-BA4B-8CD6-F5D0C5D8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B47D9-EA5E-0249-9F6D-C2E5E61A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2D47-9772-A94E-8D32-DFC6C99B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78AFD-117C-6540-AAF4-6C93B3D1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61A2-EB9C-754F-8E9D-0F6356CD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D7BF5-2494-5045-A397-495403F3C931}" type="datetime1">
              <a:rPr lang="en-US" smtClean="0"/>
              <a:t>10/27/22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1F64-89EE-674A-928B-9AC62992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2B7A1-5AC6-3F4F-B552-8E3A1B1F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2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B42E-BCDC-BC45-9C1D-40FF6C2F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EBC8-95D9-AD4D-8895-387DE026E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CD9D9-1FD4-3845-B0B5-83167E2F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91D01-CA13-7040-8BD8-883E4D71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E015F-9D22-5E4C-9E8F-982F12861CED}" type="datetime1">
              <a:rPr lang="en-US" smtClean="0"/>
              <a:t>10/27/22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53A81-8AF6-6A47-80AB-180AE0FB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4EB0B-C9E2-4A4F-90E2-BAB8BACE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A41D-6E5D-D248-B255-BD57AC0A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EA32C-4326-9542-980A-77062CFF8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5F2F1-4661-2841-AA77-66C624CB3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88B07-4F2C-0345-AAA7-5CE2607ED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0C24F-96C1-AC4B-8A6A-D472B396E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361F44-16A2-E94D-BF1F-1B92757B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FCB4-3899-254D-84AE-BA989A880B62}" type="datetime1">
              <a:rPr lang="en-US" smtClean="0"/>
              <a:t>10/27/22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6ECD9-776D-CC4C-8E1F-B17A87ED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611A4-4B83-8644-A72D-7C8B088B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3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D11E-19FB-2F49-8491-456FF5775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08D79-97CE-AB4F-934D-CED7DB59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1E220-574A-2945-8BEF-3218BEAA04F4}" type="datetime1">
              <a:rPr lang="en-US" smtClean="0"/>
              <a:t>10/27/22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18688-CB82-E64D-B294-18903093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47835-7EC0-CF44-9A14-6ADDB5FD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F5C2A-7766-1E49-AB01-1A3D7AB2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A43E1-4E1F-FF4F-9DBF-B2790F3E8E8B}" type="datetime1">
              <a:rPr lang="en-US" smtClean="0"/>
              <a:t>10/27/22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C226-A928-EB42-BC6A-0F1D168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0734-9C4E-8943-B3DF-F5708BDB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4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5B89-C47C-644E-BFC6-CAEF3FDE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8FC1-14BF-324C-82F0-700AB96A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93F29-0531-D24E-AF5C-37F4DCF93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42E24-6153-2649-B56A-4F7CE3D3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D411-8EA9-1B47-958D-C8404FDD0818}" type="datetime1">
              <a:rPr lang="en-US" smtClean="0"/>
              <a:t>10/27/22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A50A4-8073-5540-9E60-35D2875C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DCE8-A27F-844C-8246-CD335340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4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D05D-3757-C643-91D9-485ED3DD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FDC61-F6AC-2644-AC3E-D0D731CB2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63BA5-6526-3649-B7AC-E11D78443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D2371-95B6-A643-A402-C9D97C44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480A-2190-2A42-BF7E-2D7F75935119}" type="datetime1">
              <a:rPr lang="en-US" smtClean="0"/>
              <a:t>10/27/22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D2EE-6F9A-DB49-A9FF-B93E33A5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65B44-AFE1-6743-818D-FA0DCC04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4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8853-A708-E84C-95B3-BE2685EC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67802-7041-6549-BD3C-9FB982F22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EBE-96A7-154F-AF45-5C722925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A304-1190-5847-937F-15F6A134E71A}" type="datetime1">
              <a:rPr lang="en-US" smtClean="0"/>
              <a:t>10/27/22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70163-A0AF-4340-85DA-C05ECB83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DD39-9395-A547-A3F2-B0F036DB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42DD6-A04E-0A45-871C-DD82AAE8C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8C1D5-7AC5-C848-A718-488703E2B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52A8B-5CBB-F345-A2C5-6F3DD095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353FC-EDC8-9D47-8D5B-5DBFDA5EBAA3}" type="datetime1">
              <a:rPr lang="en-US" smtClean="0"/>
              <a:t>10/27/22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99CD0-99B9-0845-877D-683C4135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D771E-5F19-7347-AD53-64941522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4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0CC75-BCDA-A346-8281-910CFCA4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CBF0B-214F-EA43-9278-AAFD4044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DD92B-01BF-844F-8DC5-AAB80BD6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990D9-690C-7445-BECD-1276400AB7CD}" type="datetime1">
              <a:rPr lang="en-US" smtClean="0"/>
              <a:t>10/27/22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2215F-20EF-9A49-9A16-4E75BB066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3E60-15EE-3846-8175-E662BE0C0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5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55930E-FE5D-0E44-A03B-5AE24E275941}"/>
              </a:ext>
            </a:extLst>
          </p:cNvPr>
          <p:cNvSpPr txBox="1">
            <a:spLocks/>
          </p:cNvSpPr>
          <p:nvPr/>
        </p:nvSpPr>
        <p:spPr>
          <a:xfrm>
            <a:off x="680343" y="1930591"/>
            <a:ext cx="10543917" cy="10628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onstantia"/>
                <a:cs typeface="Constantia"/>
              </a:rPr>
              <a:t>Lecture 23: Functions in 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A23DA5-3DAB-0B4A-90B3-CF3057A9CD12}"/>
              </a:ext>
            </a:extLst>
          </p:cNvPr>
          <p:cNvSpPr txBox="1">
            <a:spLocks/>
          </p:cNvSpPr>
          <p:nvPr/>
        </p:nvSpPr>
        <p:spPr>
          <a:xfrm>
            <a:off x="680343" y="2923787"/>
            <a:ext cx="7930257" cy="1188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CSCI 260 Computer Systems &amp; Architecture</a:t>
            </a:r>
          </a:p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Fall 2022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FC8432-281D-1048-A632-A32F20F5AFD1}"/>
              </a:ext>
            </a:extLst>
          </p:cNvPr>
          <p:cNvSpPr txBox="1">
            <a:spLocks/>
          </p:cNvSpPr>
          <p:nvPr/>
        </p:nvSpPr>
        <p:spPr>
          <a:xfrm>
            <a:off x="680343" y="4377938"/>
            <a:ext cx="7930257" cy="4825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2400" dirty="0">
                <a:latin typeface="Constantia"/>
                <a:cs typeface="Constantia"/>
              </a:rPr>
              <a:t>Andy </a:t>
            </a:r>
            <a:r>
              <a:rPr lang="en-US" sz="2400" dirty="0" err="1">
                <a:latin typeface="Constantia"/>
                <a:cs typeface="Constantia"/>
              </a:rPr>
              <a:t>Siyuan</a:t>
            </a:r>
            <a:r>
              <a:rPr lang="en-US" sz="2400" dirty="0">
                <a:latin typeface="Constantia"/>
                <a:cs typeface="Constantia"/>
              </a:rPr>
              <a:t> Feng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FF6E17-02B9-764C-A0DD-D8894D2E31B1}"/>
              </a:ext>
            </a:extLst>
          </p:cNvPr>
          <p:cNvSpPr txBox="1">
            <a:spLocks/>
          </p:cNvSpPr>
          <p:nvPr/>
        </p:nvSpPr>
        <p:spPr>
          <a:xfrm>
            <a:off x="680343" y="4860502"/>
            <a:ext cx="7990733" cy="461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10/28/2022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90F61-2A63-1F42-950B-00F7A218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7330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1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2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Equivalent to Methods in Java, Subroutines in Assembly.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Building blocks of a program: something used repeatedly.</a:t>
            </a: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Provides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abstractions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// tic-tac-toe machine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int main()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clearBoard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do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Xturn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();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Oturn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} while 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noWinnerYet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20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3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 function may have</a:t>
            </a:r>
          </a:p>
          <a:p>
            <a:pPr lvl="1"/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Zero or more </a:t>
            </a:r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arguments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 passed in as input to the function (scope!).</a:t>
            </a:r>
          </a:p>
          <a:p>
            <a:pPr lvl="1"/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Zero or one </a:t>
            </a:r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returned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 value/variable.</a:t>
            </a:r>
          </a:p>
          <a:p>
            <a:pPr lvl="1"/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Declaration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of function: 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returnDataType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funcName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args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.)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where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args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.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is of the form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dataType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varName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, etc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endParaRPr lang="en-US" sz="1000" b="1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Ex.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char Int2ASCII (int input)	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void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swap(int num1, int num2)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			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(Scope!!)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			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(Will see how this is done next week.)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3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4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Ways to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declare/define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 function:</a:t>
            </a:r>
          </a:p>
          <a:p>
            <a:pPr marL="0" indent="0">
              <a:buNone/>
            </a:pPr>
            <a:endParaRPr lang="en-US" sz="1000" dirty="0">
              <a:solidFill>
                <a:srgbClr val="7030A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int Factorial (int n) {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OR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int Factorial (int n);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/*						…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all the details in here			int main()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*/							…</a:t>
            </a: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}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	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…							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int Factorial (int n)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 main() {							// now, all the details!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…						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6056689-C951-C5AE-A272-069522D356EC}"/>
              </a:ext>
            </a:extLst>
          </p:cNvPr>
          <p:cNvGrpSpPr/>
          <p:nvPr/>
        </p:nvGrpSpPr>
        <p:grpSpPr>
          <a:xfrm>
            <a:off x="2928730" y="3604591"/>
            <a:ext cx="3552329" cy="1361887"/>
            <a:chOff x="2928730" y="3604591"/>
            <a:chExt cx="3552329" cy="136188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FF09802-B97F-2DD3-FD4C-71C77664F474}"/>
                </a:ext>
              </a:extLst>
            </p:cNvPr>
            <p:cNvSpPr txBox="1"/>
            <p:nvPr/>
          </p:nvSpPr>
          <p:spPr>
            <a:xfrm>
              <a:off x="3543384" y="4240695"/>
              <a:ext cx="19645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Constantia" panose="02030602050306030303" pitchFamily="18" charset="0"/>
                </a:rPr>
                <a:t>Definition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5C9B544-3EFA-D74E-9F78-4947240C7D48}"/>
                </a:ext>
              </a:extLst>
            </p:cNvPr>
            <p:cNvCxnSpPr>
              <a:stCxn id="3" idx="1"/>
            </p:cNvCxnSpPr>
            <p:nvPr/>
          </p:nvCxnSpPr>
          <p:spPr>
            <a:xfrm flipH="1" flipV="1">
              <a:off x="2928730" y="3604591"/>
              <a:ext cx="614654" cy="89771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4925CC1-5F6C-4A74-C309-3C53DE39F4B5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5507961" y="4502305"/>
              <a:ext cx="973098" cy="4641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4C3FD45-538B-34DD-D4A8-C3920D7C96DA}"/>
              </a:ext>
            </a:extLst>
          </p:cNvPr>
          <p:cNvGrpSpPr/>
          <p:nvPr/>
        </p:nvGrpSpPr>
        <p:grpSpPr>
          <a:xfrm>
            <a:off x="8943645" y="505480"/>
            <a:ext cx="2190280" cy="1522103"/>
            <a:chOff x="8943645" y="505480"/>
            <a:chExt cx="2190280" cy="152210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AADF83-8562-05CC-E0A9-4F9BAE36B30C}"/>
                </a:ext>
              </a:extLst>
            </p:cNvPr>
            <p:cNvSpPr txBox="1"/>
            <p:nvPr/>
          </p:nvSpPr>
          <p:spPr>
            <a:xfrm>
              <a:off x="8943645" y="505480"/>
              <a:ext cx="21902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C00000"/>
                  </a:solidFill>
                  <a:latin typeface="Constantia" panose="02030602050306030303" pitchFamily="18" charset="0"/>
                </a:rPr>
                <a:t>Declaration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8F34D94-81FA-67F2-2544-4FDAEF0C206C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8943645" y="1028700"/>
              <a:ext cx="1095140" cy="99888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906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5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Ways to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declare/define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 function: But why?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Declare and call first, implement details of the definition later.</a:t>
            </a: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Definition may be in another file.</a:t>
            </a:r>
            <a:endParaRPr lang="en-US" sz="1000" dirty="0">
              <a:solidFill>
                <a:srgbClr val="7030A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					#include </a:t>
            </a:r>
            <a:r>
              <a:rPr lang="en-US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funcDef.c</a:t>
            </a:r>
            <a:endParaRPr lang="en-US" dirty="0">
              <a:solidFill>
                <a:srgbClr val="7030A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Can also put all the declarations in another file.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					#include </a:t>
            </a:r>
            <a:r>
              <a:rPr lang="en-US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funcDecl.h</a:t>
            </a:r>
            <a:endParaRPr lang="en-US" dirty="0">
              <a:solidFill>
                <a:srgbClr val="7030A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46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6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To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return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 function: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returned value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(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result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) must match the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return type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(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) (or its equivalence).</a:t>
            </a:r>
          </a:p>
          <a:p>
            <a:pPr marL="0" indent="0">
              <a:buNone/>
            </a:pPr>
            <a:endParaRPr lang="en-US" sz="1000" dirty="0">
              <a:solidFill>
                <a:srgbClr val="7030A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Factorial (int n)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/*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all the details in here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*/</a:t>
            </a:r>
          </a:p>
          <a:p>
            <a:pPr marL="0" indent="0">
              <a:buNone/>
            </a:pPr>
            <a:endParaRPr lang="en-US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return 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result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}</a:t>
            </a:r>
          </a:p>
          <a:p>
            <a:pPr marL="0" indent="0">
              <a:buNone/>
            </a:pPr>
            <a:endParaRPr lang="en-US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8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7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To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call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 function: again, need to match data types for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args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and for return.</a:t>
            </a:r>
            <a:endParaRPr lang="en-US" sz="1000" dirty="0">
              <a:solidFill>
                <a:srgbClr val="7030A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int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n_Fac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 Factorial(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input_n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());</a:t>
            </a:r>
          </a:p>
          <a:p>
            <a:pPr marL="0" indent="0">
              <a:buNone/>
            </a:pPr>
            <a:endParaRPr lang="en-US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input_n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is executed first and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passed as the input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to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Factorial()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Factorial(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input_n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())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is executed and a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value is returned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from within.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The return type is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and is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assigned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to int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n_Fac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22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Two Special Functions: I/O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8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Talked about how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works for all data types, except for pointers which is a special data type. Next week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What about input? To scan from keyboard, we use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scanf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()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Uses the same formatting mechanism as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().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Ex.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To scan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any number datatype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or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char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					must add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 &amp; (ampersand)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before the variable!!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scanf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(“%d”, 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&amp;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num);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scanf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(“%c”, 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&amp;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mode);</a:t>
            </a:r>
          </a:p>
          <a:p>
            <a:pPr marL="0" indent="0">
              <a:buNone/>
            </a:pPr>
            <a:endParaRPr lang="en-US" sz="1000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Again, has something to do with pointers. Next week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3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Two Special Functions: I/O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9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When scanning strings, a bit different. And need to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BE CAREFUL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!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Ex.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To scan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 string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no need for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&amp;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scanf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(“%s”,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myName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);</a:t>
            </a:r>
          </a:p>
          <a:p>
            <a:endParaRPr lang="en-US" sz="1000" b="1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Note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Recall, to declare a String, we used char array: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char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myName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[20]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Here,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must ensure input has at most (&lt;=) 19 chars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  <a:endParaRPr lang="en-US" sz="19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Otherwise,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overflow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!! Will overwrite data in other places.</a:t>
            </a: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Also, not allowing spaces. Will treat “Hello World” as two strings.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56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Runtime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10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Recall talked about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runtime stack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 Volt(int q, int r) { … 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int Watt(int a) { … w = Volt(w, 10); …}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int main () { … int b = Watt(a);  b = Volt(a, b); … }</a:t>
            </a:r>
          </a:p>
          <a:p>
            <a:pPr marL="0" indent="0">
              <a:buNone/>
            </a:pPr>
            <a:endParaRPr lang="en-US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C94BF684-FA30-A714-3AF0-E4B2B089A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" y="3429000"/>
            <a:ext cx="5502366" cy="2672578"/>
          </a:xfrm>
          <a:prstGeom prst="rect">
            <a:avLst/>
          </a:prstGeom>
        </p:spPr>
      </p:pic>
      <p:pic>
        <p:nvPicPr>
          <p:cNvPr id="10" name="Picture 9" descr="Chart, bar chart&#10;&#10;Description automatically generated">
            <a:extLst>
              <a:ext uri="{FF2B5EF4-FFF2-40B4-BE49-F238E27FC236}">
                <a16:creationId xmlns:a16="http://schemas.microsoft.com/office/drawing/2014/main" id="{639129C4-261B-1B47-4E93-F4E02D918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956" y="3429000"/>
            <a:ext cx="5388453" cy="266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2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11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1BB048-E21E-F33E-DB46-DA1E675BA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63" y="1253330"/>
            <a:ext cx="10739437" cy="4889561"/>
          </a:xfrm>
        </p:spPr>
        <p:txBody>
          <a:bodyPr>
            <a:normAutofit/>
          </a:bodyPr>
          <a:lstStyle/>
          <a:p>
            <a:r>
              <a:rPr lang="en-US" b="1" dirty="0">
                <a:latin typeface="Constantia" panose="02030602050306030303" pitchFamily="18" charset="0"/>
              </a:rPr>
              <a:t>Next Week:</a:t>
            </a:r>
          </a:p>
          <a:p>
            <a:pPr lvl="1"/>
            <a:r>
              <a:rPr lang="en-US" sz="2800" dirty="0">
                <a:latin typeface="Constantia" panose="02030602050306030303" pitchFamily="18" charset="0"/>
              </a:rPr>
              <a:t>Debugging in C using IDE.</a:t>
            </a:r>
          </a:p>
          <a:p>
            <a:pPr lvl="1"/>
            <a:r>
              <a:rPr lang="en-US" sz="2800" dirty="0">
                <a:latin typeface="Constantia" panose="02030602050306030303" pitchFamily="18" charset="0"/>
              </a:rPr>
              <a:t>Arrays, and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</a:rPr>
              <a:t>Pointers! – the quintessential of C programming</a:t>
            </a:r>
            <a:endParaRPr lang="en-US" sz="2400" dirty="0">
              <a:solidFill>
                <a:srgbClr val="C00000"/>
              </a:solidFill>
              <a:latin typeface="Constantia" panose="02030602050306030303" pitchFamily="18" charset="0"/>
            </a:endParaRPr>
          </a:p>
          <a:p>
            <a:pPr lvl="1"/>
            <a:endParaRPr lang="en-US" sz="2800" dirty="0">
              <a:solidFill>
                <a:srgbClr val="C00000"/>
              </a:solidFill>
              <a:latin typeface="Constantia" panose="02030602050306030303" pitchFamily="18" charset="0"/>
            </a:endParaRPr>
          </a:p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</a:rPr>
              <a:t>HW5 </a:t>
            </a:r>
            <a:r>
              <a:rPr lang="en-US" sz="2800" dirty="0">
                <a:latin typeface="Constantia" panose="02030602050306030303" pitchFamily="18" charset="0"/>
              </a:rPr>
              <a:t>will be given on M and due on 11/11 (F).</a:t>
            </a:r>
          </a:p>
        </p:txBody>
      </p:sp>
    </p:spTree>
    <p:extLst>
      <p:ext uri="{BB962C8B-B14F-4D97-AF65-F5344CB8AC3E}">
        <p14:creationId xmlns:p14="http://schemas.microsoft.com/office/powerpoint/2010/main" val="349532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9702</TotalTime>
  <Words>810</Words>
  <Application>Microsoft Macintosh PowerPoint</Application>
  <PresentationFormat>Widescreen</PresentationFormat>
  <Paragraphs>120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Constantia</vt:lpstr>
      <vt:lpstr>Office Theme</vt:lpstr>
      <vt:lpstr>PowerPoint Presentation</vt:lpstr>
      <vt:lpstr>Functions</vt:lpstr>
      <vt:lpstr>Functions</vt:lpstr>
      <vt:lpstr>Functions</vt:lpstr>
      <vt:lpstr>Functions</vt:lpstr>
      <vt:lpstr>Functions</vt:lpstr>
      <vt:lpstr>Functions</vt:lpstr>
      <vt:lpstr>Two Special Functions: I/O</vt:lpstr>
      <vt:lpstr>Two Special Functions: I/O</vt:lpstr>
      <vt:lpstr>Runtime Stack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Feng, Siyuan</dc:creator>
  <cp:lastModifiedBy>Feng, Siyuan</cp:lastModifiedBy>
  <cp:revision>3487</cp:revision>
  <dcterms:created xsi:type="dcterms:W3CDTF">2022-02-01T22:15:00Z</dcterms:created>
  <dcterms:modified xsi:type="dcterms:W3CDTF">2022-10-28T03:14:06Z</dcterms:modified>
</cp:coreProperties>
</file>