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432" r:id="rId3"/>
    <p:sldId id="433" r:id="rId4"/>
    <p:sldId id="434" r:id="rId5"/>
    <p:sldId id="435" r:id="rId6"/>
    <p:sldId id="436" r:id="rId7"/>
    <p:sldId id="437" r:id="rId8"/>
    <p:sldId id="438" r:id="rId9"/>
    <p:sldId id="440" r:id="rId10"/>
    <p:sldId id="441" r:id="rId11"/>
    <p:sldId id="442" r:id="rId12"/>
    <p:sldId id="444" r:id="rId13"/>
    <p:sldId id="445" r:id="rId14"/>
    <p:sldId id="439" r:id="rId15"/>
    <p:sldId id="42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6"/>
    <p:restoredTop sz="96177"/>
  </p:normalViewPr>
  <p:slideViewPr>
    <p:cSldViewPr snapToGrid="0" snapToObjects="1">
      <p:cViewPr varScale="1">
        <p:scale>
          <a:sx n="122" d="100"/>
          <a:sy n="122" d="100"/>
        </p:scale>
        <p:origin x="216" y="1864"/>
      </p:cViewPr>
      <p:guideLst/>
    </p:cSldViewPr>
  </p:slideViewPr>
  <p:outlineViewPr>
    <p:cViewPr>
      <p:scale>
        <a:sx n="33" d="100"/>
        <a:sy n="33" d="100"/>
      </p:scale>
      <p:origin x="0" y="-608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95412-2A65-AB46-8F16-54367300B7D0}" type="datetimeFigureOut">
              <a:rPr lang="en-US" smtClean="0"/>
              <a:t>10/20/22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FA779-5BA2-7248-BAD4-E73FE27D2E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7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8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376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40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0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65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20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82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074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29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73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15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FA779-5BA2-7248-BAD4-E73FE27D2EF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13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DFE77-2A3F-E546-ABD6-AEA8A4C9F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6B4DF-3A7D-8F4A-85E4-D17558597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157BB-0079-E34F-A0E4-089DED3C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09F19-F7D1-D648-87E5-63632F0489E0}" type="datetime1">
              <a:rPr lang="en-US" smtClean="0"/>
              <a:t>10/20/22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A5544-17CD-DC4F-A071-B46D0B84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5CF82-1EEB-E841-86E0-F2C262D0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63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7BD8-A29E-DC4B-A51D-34727854D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4A653-CDA4-2F41-A19B-571CD538F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C2BF1-2556-8C48-A444-23BF4706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D0589-E2DB-D540-8530-1E0CFADE7BA5}" type="datetime1">
              <a:rPr lang="en-US" smtClean="0"/>
              <a:t>10/20/22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EB4A7-1EAB-BA4B-8CD6-F5D0C5D8F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B47D9-EA5E-0249-9F6D-C2E5E61A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79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2D47-9772-A94E-8D32-DFC6C99B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78AFD-117C-6540-AAF4-6C93B3D1E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661A2-EB9C-754F-8E9D-0F6356CD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D7BF5-2494-5045-A397-495403F3C931}" type="datetime1">
              <a:rPr lang="en-US" smtClean="0"/>
              <a:t>10/20/22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D1F64-89EE-674A-928B-9AC62992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2B7A1-5AC6-3F4F-B552-8E3A1B1F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2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B42E-BCDC-BC45-9C1D-40FF6C2F4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0EBC8-95D9-AD4D-8895-387DE026E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CD9D9-1FD4-3845-B0B5-83167E2FF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91D01-CA13-7040-8BD8-883E4D71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E015F-9D22-5E4C-9E8F-982F12861CED}" type="datetime1">
              <a:rPr lang="en-US" smtClean="0"/>
              <a:t>10/20/22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53A81-8AF6-6A47-80AB-180AE0FB1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4EB0B-C9E2-4A4F-90E2-BAB8BACE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4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A41D-6E5D-D248-B255-BD57AC0AC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EA32C-4326-9542-980A-77062CFF8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5F2F1-4661-2841-AA77-66C624CB3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88B07-4F2C-0345-AAA7-5CE2607ED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0C24F-96C1-AC4B-8A6A-D472B396E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361F44-16A2-E94D-BF1F-1B92757B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8FCB4-3899-254D-84AE-BA989A880B62}" type="datetime1">
              <a:rPr lang="en-US" smtClean="0"/>
              <a:t>10/20/22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6ECD9-776D-CC4C-8E1F-B17A87ED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9611A4-4B83-8644-A72D-7C8B088B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3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D11E-19FB-2F49-8491-456FF5775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08D79-97CE-AB4F-934D-CED7DB59C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1E220-574A-2945-8BEF-3218BEAA04F4}" type="datetime1">
              <a:rPr lang="en-US" smtClean="0"/>
              <a:t>10/20/22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18688-CB82-E64D-B294-18903093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47835-7EC0-CF44-9A14-6ADDB5FD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EF5C2A-7766-1E49-AB01-1A3D7AB21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A43E1-4E1F-FF4F-9DBF-B2790F3E8E8B}" type="datetime1">
              <a:rPr lang="en-US" smtClean="0"/>
              <a:t>10/20/22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C226-A928-EB42-BC6A-0F1D1683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40734-9C4E-8943-B3DF-F5708BDB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44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85B89-C47C-644E-BFC6-CAEF3FDE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98FC1-14BF-324C-82F0-700AB96A3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93F29-0531-D24E-AF5C-37F4DCF93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42E24-6153-2649-B56A-4F7CE3D3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FD411-8EA9-1B47-958D-C8404FDD0818}" type="datetime1">
              <a:rPr lang="en-US" smtClean="0"/>
              <a:t>10/20/22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A50A4-8073-5540-9E60-35D2875C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DCE8-A27F-844C-8246-CD335340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4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D05D-3757-C643-91D9-485ED3DD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5FDC61-F6AC-2644-AC3E-D0D731CB2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63BA5-6526-3649-B7AC-E11D78443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D2371-95B6-A643-A402-C9D97C44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C480A-2190-2A42-BF7E-2D7F75935119}" type="datetime1">
              <a:rPr lang="en-US" smtClean="0"/>
              <a:t>10/20/22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D2EE-6F9A-DB49-A9FF-B93E33A5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65B44-AFE1-6743-818D-FA0DCC043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4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8853-A708-E84C-95B3-BE2685EC7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67802-7041-6549-BD3C-9FB982F22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4DEBE-96A7-154F-AF45-5C722925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A304-1190-5847-937F-15F6A134E71A}" type="datetime1">
              <a:rPr lang="en-US" smtClean="0"/>
              <a:t>10/20/22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70163-A0AF-4340-85DA-C05ECB83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DD39-9395-A547-A3F2-B0F036DB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2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42DD6-A04E-0A45-871C-DD82AAE8C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8C1D5-7AC5-C848-A718-488703E2B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52A8B-5CBB-F345-A2C5-6F3DD095D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353FC-EDC8-9D47-8D5B-5DBFDA5EBAA3}" type="datetime1">
              <a:rPr lang="en-US" smtClean="0"/>
              <a:t>10/20/22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99CD0-99B9-0845-877D-683C4135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D771E-5F19-7347-AD53-649415224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4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60CC75-BCDA-A346-8281-910CFCA4B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CBF0B-214F-EA43-9278-AAFD4044A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DD92B-01BF-844F-8DC5-AAB80BD64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990D9-690C-7445-BECD-1276400AB7CD}" type="datetime1">
              <a:rPr lang="en-US" smtClean="0"/>
              <a:t>10/20/22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2215F-20EF-9A49-9A16-4E75BB066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3E60-15EE-3846-8175-E662BE0C0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822D5-FF10-0B4B-B62F-8AF1BF593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5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55930E-FE5D-0E44-A03B-5AE24E275941}"/>
              </a:ext>
            </a:extLst>
          </p:cNvPr>
          <p:cNvSpPr txBox="1">
            <a:spLocks/>
          </p:cNvSpPr>
          <p:nvPr/>
        </p:nvSpPr>
        <p:spPr>
          <a:xfrm>
            <a:off x="680343" y="1930591"/>
            <a:ext cx="10543917" cy="10628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onstantia"/>
                <a:cs typeface="Constantia"/>
              </a:rPr>
              <a:t>Lecture 22: Control Structures in C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A23DA5-3DAB-0B4A-90B3-CF3057A9CD12}"/>
              </a:ext>
            </a:extLst>
          </p:cNvPr>
          <p:cNvSpPr txBox="1">
            <a:spLocks/>
          </p:cNvSpPr>
          <p:nvPr/>
        </p:nvSpPr>
        <p:spPr>
          <a:xfrm>
            <a:off x="680343" y="2923787"/>
            <a:ext cx="7930257" cy="11883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Metric Light"/>
                <a:ea typeface="+mj-ea"/>
                <a:cs typeface="Metric Light"/>
              </a:defRPr>
            </a:lvl1pPr>
          </a:lstStyle>
          <a:p>
            <a:pPr algn="l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  <a:cs typeface="Calibri"/>
              </a:rPr>
              <a:t>CSCI 260 Computer Systems &amp; Architecture</a:t>
            </a:r>
          </a:p>
          <a:p>
            <a:pPr algn="l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  <a:cs typeface="Calibri"/>
              </a:rPr>
              <a:t>Fall 2022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9FC8432-281D-1048-A632-A32F20F5AFD1}"/>
              </a:ext>
            </a:extLst>
          </p:cNvPr>
          <p:cNvSpPr txBox="1">
            <a:spLocks/>
          </p:cNvSpPr>
          <p:nvPr/>
        </p:nvSpPr>
        <p:spPr>
          <a:xfrm>
            <a:off x="680343" y="4377938"/>
            <a:ext cx="7930257" cy="4825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Metric Light"/>
                <a:ea typeface="+mj-ea"/>
                <a:cs typeface="Metric Light"/>
              </a:defRPr>
            </a:lvl1pPr>
          </a:lstStyle>
          <a:p>
            <a:pPr algn="l"/>
            <a:r>
              <a:rPr lang="en-US" sz="2400" dirty="0">
                <a:latin typeface="Constantia"/>
                <a:cs typeface="Constantia"/>
              </a:rPr>
              <a:t>Andy </a:t>
            </a:r>
            <a:r>
              <a:rPr lang="en-US" sz="2400" dirty="0" err="1">
                <a:latin typeface="Constantia"/>
                <a:cs typeface="Constantia"/>
              </a:rPr>
              <a:t>Siyuan</a:t>
            </a:r>
            <a:r>
              <a:rPr lang="en-US" sz="2400" dirty="0">
                <a:latin typeface="Constantia"/>
                <a:cs typeface="Constantia"/>
              </a:rPr>
              <a:t> Feng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1FF6E17-02B9-764C-A0DD-D8894D2E31B1}"/>
              </a:ext>
            </a:extLst>
          </p:cNvPr>
          <p:cNvSpPr txBox="1">
            <a:spLocks/>
          </p:cNvSpPr>
          <p:nvPr/>
        </p:nvSpPr>
        <p:spPr>
          <a:xfrm>
            <a:off x="680343" y="4860502"/>
            <a:ext cx="7990733" cy="4611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chemeClr val="tx1"/>
                </a:solidFill>
                <a:latin typeface="Metric Light"/>
                <a:ea typeface="+mj-ea"/>
                <a:cs typeface="Metric Light"/>
              </a:defRPr>
            </a:lvl1pPr>
          </a:lstStyle>
          <a:p>
            <a:pPr algn="l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  <a:cs typeface="Calibri"/>
              </a:rPr>
              <a:t>10/21/2022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C90F61-2A63-1F42-950B-00F7A2185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7330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1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Control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2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Conditional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making a decision on which code segment to execute.</a:t>
            </a: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if-statement</a:t>
            </a:r>
          </a:p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			if-else-statement</a:t>
            </a:r>
          </a:p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			switch-statement</a:t>
            </a:r>
            <a:endParaRPr lang="en-US" i="1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Iterative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	executing segment of code multiple times.</a:t>
            </a:r>
            <a:endParaRPr lang="en-US" sz="1000" dirty="0">
              <a:solidFill>
                <a:srgbClr val="0070C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			for-loop</a:t>
            </a:r>
            <a:endParaRPr lang="en-US" i="1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i="1" dirty="0"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while-loop</a:t>
            </a:r>
          </a:p>
          <a:p>
            <a:pPr marL="0" indent="0">
              <a:buNone/>
            </a:pP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			do-while-loop</a:t>
            </a: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Control Commands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break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or 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continue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a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loop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		or 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break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from a 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switch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20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Conditional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3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if-statement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</a:t>
            </a:r>
            <a:r>
              <a:rPr lang="en-US" i="1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test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logical condition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; and if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true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, execute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action(s)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Format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if (condition)		if (x &lt;= 10)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action;			int y = x*x + 5;</a:t>
            </a:r>
          </a:p>
          <a:p>
            <a:pPr marL="0" indent="0">
              <a:buNone/>
            </a:pPr>
            <a:endParaRPr lang="en-US" sz="10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or,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with multiple actions	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can use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compound conditions</a:t>
            </a:r>
          </a:p>
          <a:p>
            <a:pPr marL="0" indent="0">
              <a:buNone/>
            </a:pPr>
            <a:endParaRPr lang="en-US" sz="1000" dirty="0">
              <a:solidFill>
                <a:srgbClr val="C0000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if (condition) {		if ((x &lt;= 10) || ~(mode == ‘E’))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action1;			int y = x*x + 5;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action2;			char c = ‘A’;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…			}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} 				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43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Conditional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4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if-statement</a:t>
            </a: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Note1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if (condition)		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if (x &lt;= 10)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action;			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int y = x*x + 5;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		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int z = 2*y / 3;</a:t>
            </a:r>
          </a:p>
          <a:p>
            <a:pPr marL="0" indent="0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Only the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first statement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is conditional; the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second statement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is always executed. In other words, equivalent to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if (x &lt;= 10)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		int y = x*x + 5;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	}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	int z = 2*y / 3;</a:t>
            </a:r>
          </a:p>
          <a:p>
            <a:pPr marL="0" indent="0">
              <a:buNone/>
            </a:pPr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2A1501D-2947-529D-DBCC-B0395F40BDB1}"/>
              </a:ext>
            </a:extLst>
          </p:cNvPr>
          <p:cNvCxnSpPr>
            <a:cxnSpLocks/>
          </p:cNvCxnSpPr>
          <p:nvPr/>
        </p:nvCxnSpPr>
        <p:spPr>
          <a:xfrm flipV="1">
            <a:off x="3429000" y="2498271"/>
            <a:ext cx="3135086" cy="111034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75B77D-960C-2366-A081-E8350B453B0F}"/>
              </a:ext>
            </a:extLst>
          </p:cNvPr>
          <p:cNvCxnSpPr>
            <a:cxnSpLocks/>
          </p:cNvCxnSpPr>
          <p:nvPr/>
        </p:nvCxnSpPr>
        <p:spPr>
          <a:xfrm flipV="1">
            <a:off x="7968343" y="3102429"/>
            <a:ext cx="277586" cy="5061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95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Conditional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5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if-statement</a:t>
            </a: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Note2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if (x = 2)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	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is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different from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if (x == 2)</a:t>
            </a:r>
          </a:p>
          <a:p>
            <a:endParaRPr lang="en-US" sz="1000" i="1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An assignment 			A logical comparison</a:t>
            </a:r>
          </a:p>
          <a:p>
            <a:pPr marL="0" indent="0">
              <a:buNone/>
            </a:pP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		that’s always true.		that can be true or false.</a:t>
            </a:r>
          </a:p>
          <a:p>
            <a:pPr marL="0" indent="0">
              <a:buNone/>
            </a:pPr>
            <a:endParaRPr lang="en-US" i="1" dirty="0">
              <a:solidFill>
                <a:srgbClr val="0070C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int x = 1;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if (x = 2)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(“x = %d\n”, x);</a:t>
            </a:r>
          </a:p>
          <a:p>
            <a:pPr marL="0" indent="0">
              <a:buNone/>
            </a:pP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In the console: “x = 2” printed out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2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Conditional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6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if-statement</a:t>
            </a: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Nested: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if (x ==3)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{				if (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(x == 3)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&amp;&amp;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~(y &gt;= x)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)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if ~(y &gt;= x) {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…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…				if (z+3 != 5)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if (z+3 != 5)	{		…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…				}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}				…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…				}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}</a:t>
            </a:r>
          </a:p>
          <a:p>
            <a:pPr marL="0" indent="0">
              <a:buNone/>
            </a:pPr>
            <a:endParaRPr lang="en-US" i="1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40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Conditional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7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If-else-statement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test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logical condition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; and if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true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, execute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actions_if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; otherwise, execute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actions_else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endParaRPr lang="en-US" sz="1000" i="1" dirty="0">
              <a:solidFill>
                <a:srgbClr val="C0000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Format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if (condition) {			if ((x == 3) &amp;&amp; (y &gt;= x))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actions_if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;				x--;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}					}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else {					else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actions_else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;			y++;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}					}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30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Conditional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8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If-else-statement</a:t>
            </a: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Chaining </a:t>
            </a:r>
            <a:r>
              <a:rPr lang="en-US" i="1" dirty="0">
                <a:latin typeface="Constantia" panose="02030602050306030303" pitchFamily="18" charset="0"/>
                <a:sym typeface="Wingdings" pitchFamily="2" charset="2"/>
              </a:rPr>
              <a:t>if</a:t>
            </a: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 and </a:t>
            </a:r>
            <a:r>
              <a:rPr lang="en-US" i="1" dirty="0">
                <a:latin typeface="Constantia" panose="02030602050306030303" pitchFamily="18" charset="0"/>
                <a:sym typeface="Wingdings" pitchFamily="2" charset="2"/>
              </a:rPr>
              <a:t>else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</a:t>
            </a:r>
          </a:p>
          <a:p>
            <a:pPr marL="0" indent="0">
              <a:buNone/>
            </a:pPr>
            <a:endParaRPr lang="en-US" sz="1000" b="1" dirty="0"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if (month == 4 || month == 6 || month == 9 || month == 11)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(“Month has 30 days.\n”);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else if (month != 2)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(“Month has 31 days.\n”);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else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(“Month has 28 or 29 days.\n”);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18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Iteration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9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for loop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</a:t>
            </a:r>
            <a:r>
              <a:rPr lang="en-US" i="1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test if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iteration variable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satisfied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end-test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before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executing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actions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 If so, execute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actions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and re-initialize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iteration variable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after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execution.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Format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for 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init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; end-test; re-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init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) {		for 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= 0;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&lt; 10;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++)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loop_actions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;	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(“%d\n”, ++x);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}						}</a:t>
            </a:r>
          </a:p>
          <a:p>
            <a:endParaRPr lang="en-US" sz="1000" i="1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++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and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++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have the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same effect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805033-5D3B-AE28-1DA1-3F780115E9AD}"/>
              </a:ext>
            </a:extLst>
          </p:cNvPr>
          <p:cNvCxnSpPr>
            <a:cxnSpLocks/>
          </p:cNvCxnSpPr>
          <p:nvPr/>
        </p:nvCxnSpPr>
        <p:spPr>
          <a:xfrm flipV="1">
            <a:off x="4529959" y="2007476"/>
            <a:ext cx="4319751" cy="229125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666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Iteration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10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while loop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</a:t>
            </a:r>
            <a:r>
              <a:rPr lang="en-US" i="1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test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logical condition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before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executing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loop actions/body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; and if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true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, execute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actions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Format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while (condition) {		while (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x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&gt; 0)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actions;	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(“x = %d\n”, 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x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--);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}					}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Need to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manually modify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condition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otherwise will create an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infinite loop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Can create an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infinite loop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simply with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while (1) { … }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C82062C-D71E-5550-6FF3-DADABE92E23F}"/>
              </a:ext>
            </a:extLst>
          </p:cNvPr>
          <p:cNvCxnSpPr>
            <a:cxnSpLocks/>
          </p:cNvCxnSpPr>
          <p:nvPr/>
        </p:nvCxnSpPr>
        <p:spPr>
          <a:xfrm flipV="1">
            <a:off x="3457903" y="2837793"/>
            <a:ext cx="4456387" cy="168165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04E905-6185-6BCD-7B06-5A28059F4D37}"/>
              </a:ext>
            </a:extLst>
          </p:cNvPr>
          <p:cNvCxnSpPr>
            <a:cxnSpLocks/>
          </p:cNvCxnSpPr>
          <p:nvPr/>
        </p:nvCxnSpPr>
        <p:spPr>
          <a:xfrm flipV="1">
            <a:off x="3457903" y="3331779"/>
            <a:ext cx="7010400" cy="118766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101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Iteration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11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do-while loop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</a:t>
            </a:r>
            <a:r>
              <a:rPr lang="en-US" i="1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test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logical condition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after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executing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actions </a:t>
            </a:r>
            <a:r>
              <a:rPr lang="en-US" b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once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; and if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true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, continue execute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actions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Format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do {					int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= 10;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actions;			do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} while (condition);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(“%d\n”,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);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		} while 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&gt; 10);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		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Prints out a “10”.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60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Control Commands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12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break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</a:t>
            </a:r>
            <a:r>
              <a:rPr lang="en-US" i="1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used for exiting the </a:t>
            </a: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current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loop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; i.e., if within a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nested loop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, only exit the </a:t>
            </a:r>
            <a:r>
              <a:rPr lang="en-US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inner-most one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; or used for exiting a 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switch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for certain 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cases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Ex.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int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= 10;				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10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while 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&gt; 0) {			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11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(“%d\n”,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++);	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12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if 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== 13) 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break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}</a:t>
            </a:r>
          </a:p>
          <a:p>
            <a:endParaRPr lang="en-US" sz="1000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Will see how 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switch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works in 2 slides.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5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Control Commands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13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continue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</a:t>
            </a:r>
            <a:r>
              <a:rPr lang="en-US" i="1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used for skipping over the </a:t>
            </a:r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current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loop iteration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and try to continue the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loop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by checking the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condition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again.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Ex.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for 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= 10;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&lt; 15;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++) {		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10</a:t>
            </a:r>
            <a:endParaRPr lang="en-US" i="1" dirty="0">
              <a:solidFill>
                <a:srgbClr val="0070C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if (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 == 12)			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11</a:t>
            </a:r>
            <a:endParaRPr lang="en-US" i="1" dirty="0">
              <a:solidFill>
                <a:srgbClr val="0070C0"/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continue;		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13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(“%d\n”,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);			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14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}</a:t>
            </a:r>
          </a:p>
          <a:p>
            <a:pPr marL="0" indent="0">
              <a:buNone/>
            </a:pPr>
            <a:endParaRPr lang="en-US" sz="1000" i="1" dirty="0">
              <a:solidFill>
                <a:schemeClr val="accent6">
                  <a:lumMod val="75000"/>
                </a:schemeClr>
              </a:solidFill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Note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When </a:t>
            </a: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continue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with a </a:t>
            </a:r>
            <a:r>
              <a:rPr lang="en-US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for-loop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, the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re-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init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is also executed.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50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Conditional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14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E66288-4F98-964B-B61D-3ABC3092D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" y="1231263"/>
            <a:ext cx="11654790" cy="544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C00000"/>
                </a:solidFill>
                <a:latin typeface="Constantia" panose="02030602050306030303" pitchFamily="18" charset="0"/>
                <a:sym typeface="Wingdings" pitchFamily="2" charset="2"/>
              </a:rPr>
              <a:t>switch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</a:t>
            </a:r>
            <a:r>
              <a:rPr lang="en-US" i="1" dirty="0">
                <a:latin typeface="Constantia" panose="02030602050306030303" pitchFamily="18" charset="0"/>
                <a:sym typeface="Wingdings" pitchFamily="2" charset="2"/>
              </a:rPr>
              <a:t> 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match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expression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with a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case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 and execute corresponding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action(s)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.</a:t>
            </a:r>
          </a:p>
          <a:p>
            <a:pPr marL="0" indent="0">
              <a:buNone/>
            </a:pPr>
            <a:endParaRPr lang="en-US" sz="1000" dirty="0">
              <a:latin typeface="Constantia" panose="02030602050306030303" pitchFamily="18" charset="0"/>
              <a:sym typeface="Wingdings" pitchFamily="2" charset="2"/>
            </a:endParaRPr>
          </a:p>
          <a:p>
            <a:r>
              <a:rPr lang="en-US" b="1" dirty="0">
                <a:latin typeface="Constantia" panose="02030602050306030303" pitchFamily="18" charset="0"/>
                <a:sym typeface="Wingdings" pitchFamily="2" charset="2"/>
              </a:rPr>
              <a:t>Format</a:t>
            </a:r>
            <a:r>
              <a:rPr lang="en-US" dirty="0">
                <a:latin typeface="Constantia" panose="02030602050306030303" pitchFamily="18" charset="0"/>
                <a:sym typeface="Wingdings" pitchFamily="2" charset="2"/>
              </a:rPr>
              <a:t>: 	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switch (expression) {		switch (month) {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case const1:				case 4: 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// since no breaks,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actions1;  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break;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case 6: 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// all these 4 cases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case const2:				case 9: 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// will execute the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actions2;  </a:t>
            </a:r>
            <a:r>
              <a:rPr lang="en-US" i="1" dirty="0">
                <a:solidFill>
                  <a:srgbClr val="7030A0"/>
                </a:solidFill>
                <a:latin typeface="Constantia" panose="02030602050306030303" pitchFamily="18" charset="0"/>
                <a:sym typeface="Wingdings" pitchFamily="2" charset="2"/>
              </a:rPr>
              <a:t>break;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case 11:  </a:t>
            </a:r>
            <a:r>
              <a:rPr lang="en-US" i="1" dirty="0">
                <a:solidFill>
                  <a:srgbClr val="0070C0"/>
                </a:solidFill>
                <a:latin typeface="Constantia" panose="02030602050306030303" pitchFamily="18" charset="0"/>
                <a:sym typeface="Wingdings" pitchFamily="2" charset="2"/>
              </a:rPr>
              <a:t>// following 2 lines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…						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printf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(“30 days.\n”);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default:					break;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		actions3;			…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Constantia" panose="02030602050306030303" pitchFamily="18" charset="0"/>
                <a:sym typeface="Wingdings" pitchFamily="2" charset="2"/>
              </a:rPr>
              <a:t>		}					}</a:t>
            </a:r>
            <a:endParaRPr lang="en-US" dirty="0">
              <a:latin typeface="Constantia" panose="02030602050306030303" pitchFamily="18" charset="0"/>
              <a:sym typeface="Wingdings" pitchFamily="2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90E7FF5A-DD82-4051-1B08-42E5A4C7487B}"/>
              </a:ext>
            </a:extLst>
          </p:cNvPr>
          <p:cNvSpPr/>
          <p:nvPr/>
        </p:nvSpPr>
        <p:spPr>
          <a:xfrm>
            <a:off x="2806262" y="3289738"/>
            <a:ext cx="3869507" cy="3058510"/>
          </a:xfrm>
          <a:custGeom>
            <a:avLst/>
            <a:gdLst>
              <a:gd name="connsiteX0" fmla="*/ 3573517 w 3869507"/>
              <a:gd name="connsiteY0" fmla="*/ 0 h 3058510"/>
              <a:gd name="connsiteX1" fmla="*/ 3510455 w 3869507"/>
              <a:gd name="connsiteY1" fmla="*/ 2102069 h 3058510"/>
              <a:gd name="connsiteX2" fmla="*/ 0 w 3869507"/>
              <a:gd name="connsiteY2" fmla="*/ 3058510 h 305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9507" h="3058510">
                <a:moveTo>
                  <a:pt x="3573517" y="0"/>
                </a:moveTo>
                <a:cubicBezTo>
                  <a:pt x="3839779" y="796158"/>
                  <a:pt x="4106041" y="1592317"/>
                  <a:pt x="3510455" y="2102069"/>
                </a:cubicBezTo>
                <a:cubicBezTo>
                  <a:pt x="2914869" y="2611821"/>
                  <a:pt x="1457434" y="2835165"/>
                  <a:pt x="0" y="3058510"/>
                </a:cubicBezTo>
              </a:path>
            </a:pathLst>
          </a:custGeom>
          <a:ln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22DB313-9900-6AEB-D259-8696531BB8FC}"/>
              </a:ext>
            </a:extLst>
          </p:cNvPr>
          <p:cNvSpPr/>
          <p:nvPr/>
        </p:nvSpPr>
        <p:spPr>
          <a:xfrm>
            <a:off x="3016469" y="4298731"/>
            <a:ext cx="3779016" cy="2102069"/>
          </a:xfrm>
          <a:custGeom>
            <a:avLst/>
            <a:gdLst>
              <a:gd name="connsiteX0" fmla="*/ 3394841 w 3779016"/>
              <a:gd name="connsiteY0" fmla="*/ 0 h 2102069"/>
              <a:gd name="connsiteX1" fmla="*/ 3468414 w 3779016"/>
              <a:gd name="connsiteY1" fmla="*/ 1492469 h 2102069"/>
              <a:gd name="connsiteX2" fmla="*/ 0 w 3779016"/>
              <a:gd name="connsiteY2" fmla="*/ 2102069 h 210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79016" h="2102069">
                <a:moveTo>
                  <a:pt x="3394841" y="0"/>
                </a:moveTo>
                <a:cubicBezTo>
                  <a:pt x="3714531" y="571062"/>
                  <a:pt x="4034221" y="1142124"/>
                  <a:pt x="3468414" y="1492469"/>
                </a:cubicBezTo>
                <a:cubicBezTo>
                  <a:pt x="2902607" y="1842814"/>
                  <a:pt x="1451303" y="1972441"/>
                  <a:pt x="0" y="2102069"/>
                </a:cubicBezTo>
              </a:path>
            </a:pathLst>
          </a:custGeom>
          <a:ln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3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7BCF9-96D8-A648-8494-DFE585277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82245"/>
            <a:ext cx="11654790" cy="8464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70C0"/>
                </a:solidFill>
                <a:latin typeface="Constantia" panose="02030602050306030303" pitchFamily="18" charset="0"/>
              </a:rPr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CD4FA-984E-574B-8D96-4085DC18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22D5-FF10-0B4B-B62F-8AF1BF59399C}" type="slidenum">
              <a:rPr lang="en-US" sz="3200" smtClean="0">
                <a:latin typeface="Constantia" panose="02030602050306030303" pitchFamily="18" charset="0"/>
              </a:rPr>
              <a:t>15</a:t>
            </a:fld>
            <a:endParaRPr lang="en-US" sz="3200" dirty="0">
              <a:latin typeface="Constantia" panose="0203060205030603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4708F-2603-5248-B2CA-CB670E981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" y="6304141"/>
            <a:ext cx="2000250" cy="46954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1BB048-E21E-F33E-DB46-DA1E675BA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363" y="1253330"/>
            <a:ext cx="10739437" cy="4889561"/>
          </a:xfrm>
        </p:spPr>
        <p:txBody>
          <a:bodyPr>
            <a:normAutofit/>
          </a:bodyPr>
          <a:lstStyle/>
          <a:p>
            <a:r>
              <a:rPr lang="en-US" b="1" dirty="0">
                <a:latin typeface="Constantia" panose="02030602050306030303" pitchFamily="18" charset="0"/>
              </a:rPr>
              <a:t>Next Week:</a:t>
            </a:r>
          </a:p>
          <a:p>
            <a:pPr lvl="1"/>
            <a:r>
              <a:rPr lang="en-US" sz="2800" dirty="0">
                <a:solidFill>
                  <a:srgbClr val="C00000"/>
                </a:solidFill>
                <a:latin typeface="Constantia" panose="02030602050306030303" pitchFamily="18" charset="0"/>
              </a:rPr>
              <a:t>No classes on MW. No OHs on TR.</a:t>
            </a:r>
          </a:p>
          <a:p>
            <a:pPr lvl="1"/>
            <a:r>
              <a:rPr lang="en-US" sz="2800" dirty="0">
                <a:latin typeface="Constantia" panose="02030602050306030303" pitchFamily="18" charset="0"/>
              </a:rPr>
              <a:t>Continue with Functions in C on F.</a:t>
            </a:r>
          </a:p>
          <a:p>
            <a:pPr lvl="1"/>
            <a:endParaRPr lang="en-US" sz="2800" dirty="0">
              <a:solidFill>
                <a:srgbClr val="C00000"/>
              </a:solidFill>
              <a:latin typeface="Constantia" panose="02030602050306030303" pitchFamily="18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onstantia" panose="02030602050306030303" pitchFamily="18" charset="0"/>
              </a:rPr>
              <a:t>1 last week on the Project</a:t>
            </a:r>
            <a:r>
              <a:rPr lang="en-US" dirty="0">
                <a:latin typeface="Constantia" panose="02030602050306030303" pitchFamily="18" charset="0"/>
              </a:rPr>
              <a:t>: </a:t>
            </a:r>
          </a:p>
          <a:p>
            <a:pPr lvl="1"/>
            <a:r>
              <a:rPr lang="en-US" sz="2800" dirty="0">
                <a:latin typeface="Constantia" panose="02030602050306030303" pitchFamily="18" charset="0"/>
              </a:rPr>
              <a:t>Whatever you have right now, start on the integration process. </a:t>
            </a:r>
          </a:p>
          <a:p>
            <a:pPr lvl="1"/>
            <a:r>
              <a:rPr lang="en-US" sz="2800" dirty="0">
                <a:latin typeface="Constantia" panose="02030602050306030303" pitchFamily="18" charset="0"/>
              </a:rPr>
              <a:t>Once you have an overall </a:t>
            </a:r>
            <a:r>
              <a:rPr lang="en-US" sz="2800" b="1" dirty="0">
                <a:solidFill>
                  <a:srgbClr val="C00000"/>
                </a:solidFill>
                <a:latin typeface="Constantia" panose="02030602050306030303" pitchFamily="18" charset="0"/>
              </a:rPr>
              <a:t>running</a:t>
            </a:r>
            <a:r>
              <a:rPr lang="en-US" sz="2800" dirty="0">
                <a:latin typeface="Constantia" panose="02030602050306030303" pitchFamily="18" charset="0"/>
              </a:rPr>
              <a:t> program, back to fixing bugs/polishing.</a:t>
            </a:r>
          </a:p>
          <a:p>
            <a:pPr lvl="1"/>
            <a:endParaRPr lang="en-US" sz="2800" b="1" dirty="0">
              <a:solidFill>
                <a:srgbClr val="C00000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329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9606</TotalTime>
  <Words>1424</Words>
  <Application>Microsoft Macintosh PowerPoint</Application>
  <PresentationFormat>Widescreen</PresentationFormat>
  <Paragraphs>176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Constantia</vt:lpstr>
      <vt:lpstr>Office Theme</vt:lpstr>
      <vt:lpstr>PowerPoint Presentation</vt:lpstr>
      <vt:lpstr>Control Structures</vt:lpstr>
      <vt:lpstr>Conditional</vt:lpstr>
      <vt:lpstr>Conditional</vt:lpstr>
      <vt:lpstr>Conditional</vt:lpstr>
      <vt:lpstr>Conditional</vt:lpstr>
      <vt:lpstr>Conditional</vt:lpstr>
      <vt:lpstr>Conditional</vt:lpstr>
      <vt:lpstr>Iteration</vt:lpstr>
      <vt:lpstr>Iteration</vt:lpstr>
      <vt:lpstr>Iteration</vt:lpstr>
      <vt:lpstr>Control Commands</vt:lpstr>
      <vt:lpstr>Control Commands</vt:lpstr>
      <vt:lpstr>Conditional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Feng, Siyuan</dc:creator>
  <cp:lastModifiedBy>Feng, Siyuan</cp:lastModifiedBy>
  <cp:revision>3423</cp:revision>
  <dcterms:created xsi:type="dcterms:W3CDTF">2022-02-01T22:15:00Z</dcterms:created>
  <dcterms:modified xsi:type="dcterms:W3CDTF">2022-10-21T01:48:40Z</dcterms:modified>
</cp:coreProperties>
</file>